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5" r:id="rId2"/>
    <p:sldId id="257" r:id="rId3"/>
    <p:sldId id="258" r:id="rId4"/>
    <p:sldId id="264" r:id="rId5"/>
    <p:sldId id="265" r:id="rId6"/>
    <p:sldId id="266" r:id="rId7"/>
    <p:sldId id="267" r:id="rId8"/>
    <p:sldId id="268" r:id="rId9"/>
    <p:sldId id="259" r:id="rId10"/>
    <p:sldId id="269" r:id="rId11"/>
    <p:sldId id="270" r:id="rId12"/>
    <p:sldId id="271" r:id="rId13"/>
    <p:sldId id="272" r:id="rId14"/>
    <p:sldId id="260" r:id="rId15"/>
    <p:sldId id="273" r:id="rId16"/>
    <p:sldId id="274" r:id="rId17"/>
    <p:sldId id="261" r:id="rId18"/>
    <p:sldId id="262" r:id="rId19"/>
    <p:sldId id="26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4A5366-48E5-22DF-92FB-656EE923592D}"/>
              </a:ext>
            </a:extLst>
          </p:cNvPr>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40080" y="4153147"/>
            <a:ext cx="10058400" cy="365760"/>
          </a:xfrm>
          <a:prstGeom prst="rect">
            <a:avLst/>
          </a:prstGeom>
          <a:noFill/>
        </p:spPr>
        <p:txBody>
          <a:bodyPr wrap="square">
            <a:spAutoFit/>
          </a:bodyPr>
          <a:lstStyle/>
          <a:p>
            <a:pPr>
              <a:spcAft>
                <a:spcPts val="1000"/>
              </a:spcAft>
            </a:pPr>
            <a:r>
              <a:rPr sz="1200" b="1" dirty="0">
                <a:solidFill>
                  <a:srgbClr val="6ECDDE"/>
                </a:solidFill>
              </a:rPr>
              <a:t>TOPIC PROPOSAL  /  PYTHON LECTURE</a:t>
            </a:r>
          </a:p>
        </p:txBody>
      </p:sp>
      <p:sp>
        <p:nvSpPr>
          <p:cNvPr id="3" name="TextBox 2"/>
          <p:cNvSpPr txBox="1"/>
          <p:nvPr/>
        </p:nvSpPr>
        <p:spPr>
          <a:xfrm>
            <a:off x="594360" y="2348436"/>
            <a:ext cx="10972800" cy="1323439"/>
          </a:xfrm>
          <a:prstGeom prst="rect">
            <a:avLst/>
          </a:prstGeom>
          <a:noFill/>
        </p:spPr>
        <p:txBody>
          <a:bodyPr wrap="square">
            <a:spAutoFit/>
          </a:bodyPr>
          <a:lstStyle/>
          <a:p>
            <a:r>
              <a:rPr sz="8000" dirty="0">
                <a:solidFill>
                  <a:srgbClr val="FFFF00"/>
                </a:solidFill>
              </a:rPr>
              <a:t>Python Lecture</a:t>
            </a:r>
          </a:p>
        </p:txBody>
      </p:sp>
      <p:sp>
        <p:nvSpPr>
          <p:cNvPr id="10" name="TextBox 9"/>
          <p:cNvSpPr txBox="1"/>
          <p:nvPr/>
        </p:nvSpPr>
        <p:spPr>
          <a:xfrm>
            <a:off x="640080" y="4384549"/>
            <a:ext cx="10972800" cy="400110"/>
          </a:xfrm>
          <a:prstGeom prst="rect">
            <a:avLst/>
          </a:prstGeom>
          <a:noFill/>
        </p:spPr>
        <p:txBody>
          <a:bodyPr wrap="square">
            <a:spAutoFit/>
          </a:bodyPr>
          <a:lstStyle/>
          <a:p>
            <a:pPr>
              <a:spcAft>
                <a:spcPts val="1000"/>
              </a:spcAft>
            </a:pPr>
            <a:r>
              <a:rPr lang="en-US" sz="2000" b="0" dirty="0">
                <a:solidFill>
                  <a:srgbClr val="9FB3C9"/>
                </a:solidFill>
              </a:rPr>
              <a:t>MADERA, RENZ MARK A.</a:t>
            </a:r>
            <a:endParaRPr sz="2000" b="0" dirty="0">
              <a:solidFill>
                <a:srgbClr val="9FB3C9"/>
              </a:solidFill>
            </a:endParaRPr>
          </a:p>
        </p:txBody>
      </p:sp>
      <p:sp>
        <p:nvSpPr>
          <p:cNvPr id="14" name="Rounded Rectangle 13"/>
          <p:cNvSpPr/>
          <p:nvPr/>
        </p:nvSpPr>
        <p:spPr>
          <a:xfrm>
            <a:off x="9555480" y="1700784"/>
            <a:ext cx="1627632" cy="310896"/>
          </a:xfrm>
          <a:prstGeom prst="roundRect">
            <a:avLst/>
          </a:prstGeom>
          <a:solidFill>
            <a:srgbClr val="0E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92056" y="1746504"/>
            <a:ext cx="1536192" cy="219456"/>
          </a:xfrm>
          <a:prstGeom prst="rect">
            <a:avLst/>
          </a:prstGeom>
          <a:noFill/>
        </p:spPr>
        <p:txBody>
          <a:bodyPr wrap="square">
            <a:spAutoFit/>
          </a:bodyPr>
          <a:lstStyle/>
          <a:p>
            <a:pPr algn="ctr">
              <a:defRPr sz="1100" b="1">
                <a:solidFill>
                  <a:srgbClr val="24CCB7"/>
                </a:solidFill>
              </a:defRPr>
            </a:pPr>
            <a:r>
              <a:t>&lt; PYTHON /&gt;</a:t>
            </a:r>
          </a:p>
        </p:txBody>
      </p:sp>
      <p:sp>
        <p:nvSpPr>
          <p:cNvPr id="16" name="Rectangle 15"/>
          <p:cNvSpPr/>
          <p:nvPr/>
        </p:nvSpPr>
        <p:spPr>
          <a:xfrm>
            <a:off x="640080" y="5824728"/>
            <a:ext cx="3063240" cy="50292"/>
          </a:xfrm>
          <a:prstGeom prst="rect">
            <a:avLst/>
          </a:prstGeom>
          <a:solidFill>
            <a:srgbClr val="24CC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5824728"/>
            <a:ext cx="3063240" cy="50292"/>
          </a:xfrm>
          <a:prstGeom prst="rect">
            <a:avLst/>
          </a:prstGeom>
          <a:solidFill>
            <a:srgbClr val="649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55279" y="5824728"/>
            <a:ext cx="3063240" cy="50292"/>
          </a:xfrm>
          <a:prstGeom prst="rect">
            <a:avLst/>
          </a:prstGeom>
          <a:solidFill>
            <a:srgbClr val="FFC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4280" y="411480"/>
            <a:ext cx="228600" cy="228600"/>
          </a:xfrm>
          <a:prstGeom prst="ellipse">
            <a:avLst/>
          </a:prstGeom>
          <a:solidFill>
            <a:srgbClr val="24CC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064240" y="411480"/>
            <a:ext cx="109728" cy="109728"/>
          </a:xfrm>
          <a:prstGeom prst="ellipse">
            <a:avLst/>
          </a:prstGeom>
          <a:solidFill>
            <a:srgbClr val="FFC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ython_title_logo.png"/>
          <p:cNvPicPr>
            <a:picLocks noChangeAspect="1"/>
          </p:cNvPicPr>
          <p:nvPr/>
        </p:nvPicPr>
        <p:blipFill>
          <a:blip r:embed="rId2"/>
          <a:stretch>
            <a:fillRect/>
          </a:stretch>
        </p:blipFill>
        <p:spPr>
          <a:xfrm>
            <a:off x="6830568" y="196596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COURSE STRUCTURE</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Three Main Topics</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A progressive learning path from Python fundamentals to practical applications.</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685800" y="2331720"/>
            <a:ext cx="10820400" cy="1005840"/>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450591"/>
            <a:ext cx="4572000" cy="320040"/>
          </a:xfrm>
          <a:prstGeom prst="rect">
            <a:avLst/>
          </a:prstGeom>
          <a:noFill/>
        </p:spPr>
        <p:txBody>
          <a:bodyPr wrap="square" lIns="0" tIns="0" rIns="0">
            <a:spAutoFit/>
          </a:bodyPr>
          <a:lstStyle/>
          <a:p>
            <a:pPr>
              <a:spcAft>
                <a:spcPts val="700"/>
              </a:spcAft>
              <a:defRPr sz="1900" b="1">
                <a:solidFill>
                  <a:srgbClr val="42D5D6"/>
                </a:solidFill>
                <a:latin typeface="Aptos"/>
              </a:defRPr>
            </a:pPr>
            <a:r>
              <a:t>01  BASIC PYTHON</a:t>
            </a:r>
          </a:p>
        </p:txBody>
      </p:sp>
      <p:sp>
        <p:nvSpPr>
          <p:cNvPr id="11" name="TextBox 10"/>
          <p:cNvSpPr txBox="1"/>
          <p:nvPr/>
        </p:nvSpPr>
        <p:spPr>
          <a:xfrm>
            <a:off x="914400" y="2871215"/>
            <a:ext cx="9448800" cy="292388"/>
          </a:xfrm>
          <a:prstGeom prst="rect">
            <a:avLst/>
          </a:prstGeom>
          <a:noFill/>
        </p:spPr>
        <p:txBody>
          <a:bodyPr wrap="square" lIns="0" tIns="0" rIns="0">
            <a:spAutoFit/>
          </a:bodyPr>
          <a:lstStyle/>
          <a:p>
            <a:pPr>
              <a:spcAft>
                <a:spcPts val="700"/>
              </a:spcAft>
              <a:defRPr sz="1300" b="0">
                <a:solidFill>
                  <a:srgbClr val="F3F8FC"/>
                </a:solidFill>
                <a:latin typeface="Aptos"/>
              </a:defRPr>
            </a:pPr>
            <a:r>
              <a:rPr sz="1600" dirty="0"/>
              <a:t>Foundations, programming logic, and collections</a:t>
            </a:r>
          </a:p>
        </p:txBody>
      </p:sp>
      <p:sp>
        <p:nvSpPr>
          <p:cNvPr id="12" name="TextBox 11"/>
          <p:cNvSpPr txBox="1"/>
          <p:nvPr/>
        </p:nvSpPr>
        <p:spPr>
          <a:xfrm>
            <a:off x="9906000" y="2660903"/>
            <a:ext cx="1645920" cy="274320"/>
          </a:xfrm>
          <a:prstGeom prst="rect">
            <a:avLst/>
          </a:prstGeom>
          <a:noFill/>
        </p:spPr>
        <p:txBody>
          <a:bodyPr wrap="square" lIns="0" tIns="0" rIns="0">
            <a:spAutoFit/>
          </a:bodyPr>
          <a:lstStyle/>
          <a:p>
            <a:pPr>
              <a:spcAft>
                <a:spcPts val="700"/>
              </a:spcAft>
              <a:defRPr sz="1200" b="0">
                <a:solidFill>
                  <a:srgbClr val="A4B8CA"/>
                </a:solidFill>
                <a:latin typeface="Aptos"/>
              </a:defRPr>
            </a:pPr>
            <a:r>
              <a:t>Lessons 01–15</a:t>
            </a:r>
          </a:p>
        </p:txBody>
      </p:sp>
      <p:sp>
        <p:nvSpPr>
          <p:cNvPr id="13" name="Rounded Rectangle 12"/>
          <p:cNvSpPr/>
          <p:nvPr/>
        </p:nvSpPr>
        <p:spPr>
          <a:xfrm>
            <a:off x="685800" y="3520439"/>
            <a:ext cx="10820400" cy="1005840"/>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639311"/>
            <a:ext cx="4572000" cy="320040"/>
          </a:xfrm>
          <a:prstGeom prst="rect">
            <a:avLst/>
          </a:prstGeom>
          <a:noFill/>
        </p:spPr>
        <p:txBody>
          <a:bodyPr wrap="square" lIns="0" tIns="0" rIns="0">
            <a:spAutoFit/>
          </a:bodyPr>
          <a:lstStyle/>
          <a:p>
            <a:pPr>
              <a:spcAft>
                <a:spcPts val="700"/>
              </a:spcAft>
              <a:defRPr sz="1900" b="1">
                <a:solidFill>
                  <a:srgbClr val="42D5D6"/>
                </a:solidFill>
                <a:latin typeface="Aptos"/>
              </a:defRPr>
            </a:pPr>
            <a:r>
              <a:t>02  INTERMEDIATE PYTHON</a:t>
            </a:r>
          </a:p>
        </p:txBody>
      </p:sp>
      <p:sp>
        <p:nvSpPr>
          <p:cNvPr id="15" name="TextBox 14"/>
          <p:cNvSpPr txBox="1"/>
          <p:nvPr/>
        </p:nvSpPr>
        <p:spPr>
          <a:xfrm>
            <a:off x="914400" y="4059935"/>
            <a:ext cx="9448800" cy="292388"/>
          </a:xfrm>
          <a:prstGeom prst="rect">
            <a:avLst/>
          </a:prstGeom>
          <a:noFill/>
        </p:spPr>
        <p:txBody>
          <a:bodyPr wrap="square" lIns="0" tIns="0" rIns="0">
            <a:spAutoFit/>
          </a:bodyPr>
          <a:lstStyle/>
          <a:p>
            <a:pPr>
              <a:spcAft>
                <a:spcPts val="700"/>
              </a:spcAft>
              <a:defRPr sz="1300" b="0">
                <a:solidFill>
                  <a:srgbClr val="F3F8FC"/>
                </a:solidFill>
                <a:latin typeface="Aptos"/>
              </a:defRPr>
            </a:pPr>
            <a:r>
              <a:rPr sz="1600"/>
              <a:t>Reusable code, algorithms, and object-oriented concepts</a:t>
            </a:r>
          </a:p>
        </p:txBody>
      </p:sp>
      <p:sp>
        <p:nvSpPr>
          <p:cNvPr id="16" name="TextBox 15"/>
          <p:cNvSpPr txBox="1"/>
          <p:nvPr/>
        </p:nvSpPr>
        <p:spPr>
          <a:xfrm>
            <a:off x="9906000" y="3849624"/>
            <a:ext cx="1645920" cy="274320"/>
          </a:xfrm>
          <a:prstGeom prst="rect">
            <a:avLst/>
          </a:prstGeom>
          <a:noFill/>
        </p:spPr>
        <p:txBody>
          <a:bodyPr wrap="square" lIns="0" tIns="0" rIns="0">
            <a:spAutoFit/>
          </a:bodyPr>
          <a:lstStyle/>
          <a:p>
            <a:pPr>
              <a:spcAft>
                <a:spcPts val="700"/>
              </a:spcAft>
              <a:defRPr sz="1200" b="0">
                <a:solidFill>
                  <a:srgbClr val="A4B8CA"/>
                </a:solidFill>
                <a:latin typeface="Aptos"/>
              </a:defRPr>
            </a:pPr>
            <a:r>
              <a:t>Lessons 16–27</a:t>
            </a:r>
          </a:p>
        </p:txBody>
      </p:sp>
      <p:sp>
        <p:nvSpPr>
          <p:cNvPr id="17" name="Rounded Rectangle 16"/>
          <p:cNvSpPr/>
          <p:nvPr/>
        </p:nvSpPr>
        <p:spPr>
          <a:xfrm>
            <a:off x="685800" y="4709160"/>
            <a:ext cx="10820400" cy="1005840"/>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828032"/>
            <a:ext cx="4572000" cy="320040"/>
          </a:xfrm>
          <a:prstGeom prst="rect">
            <a:avLst/>
          </a:prstGeom>
          <a:noFill/>
        </p:spPr>
        <p:txBody>
          <a:bodyPr wrap="square" lIns="0" tIns="0" rIns="0">
            <a:spAutoFit/>
          </a:bodyPr>
          <a:lstStyle/>
          <a:p>
            <a:pPr>
              <a:spcAft>
                <a:spcPts val="700"/>
              </a:spcAft>
              <a:defRPr sz="1900" b="1">
                <a:solidFill>
                  <a:srgbClr val="42D5D6"/>
                </a:solidFill>
                <a:latin typeface="Aptos"/>
              </a:defRPr>
            </a:pPr>
            <a:r>
              <a:t>03  ADVANCED PYTHON</a:t>
            </a:r>
          </a:p>
        </p:txBody>
      </p:sp>
      <p:sp>
        <p:nvSpPr>
          <p:cNvPr id="19" name="TextBox 18"/>
          <p:cNvSpPr txBox="1"/>
          <p:nvPr/>
        </p:nvSpPr>
        <p:spPr>
          <a:xfrm>
            <a:off x="914400" y="5248656"/>
            <a:ext cx="9448800" cy="292388"/>
          </a:xfrm>
          <a:prstGeom prst="rect">
            <a:avLst/>
          </a:prstGeom>
          <a:noFill/>
        </p:spPr>
        <p:txBody>
          <a:bodyPr wrap="square" lIns="0" tIns="0" rIns="0">
            <a:spAutoFit/>
          </a:bodyPr>
          <a:lstStyle/>
          <a:p>
            <a:pPr>
              <a:spcAft>
                <a:spcPts val="700"/>
              </a:spcAft>
              <a:defRPr sz="1300" b="0">
                <a:solidFill>
                  <a:srgbClr val="F3F8FC"/>
                </a:solidFill>
                <a:latin typeface="Aptos"/>
              </a:defRPr>
            </a:pPr>
            <a:r>
              <a:rPr sz="1600" dirty="0"/>
              <a:t>Databases, APIs, testing, graphs, and charts</a:t>
            </a:r>
          </a:p>
        </p:txBody>
      </p:sp>
      <p:sp>
        <p:nvSpPr>
          <p:cNvPr id="20" name="TextBox 19"/>
          <p:cNvSpPr txBox="1"/>
          <p:nvPr/>
        </p:nvSpPr>
        <p:spPr>
          <a:xfrm>
            <a:off x="9906000" y="5038344"/>
            <a:ext cx="1645920" cy="274320"/>
          </a:xfrm>
          <a:prstGeom prst="rect">
            <a:avLst/>
          </a:prstGeom>
          <a:noFill/>
        </p:spPr>
        <p:txBody>
          <a:bodyPr wrap="square" lIns="0" tIns="0" rIns="0">
            <a:spAutoFit/>
          </a:bodyPr>
          <a:lstStyle/>
          <a:p>
            <a:pPr>
              <a:spcAft>
                <a:spcPts val="700"/>
              </a:spcAft>
              <a:defRPr sz="1200" b="0">
                <a:solidFill>
                  <a:srgbClr val="A4B8CA"/>
                </a:solidFill>
                <a:latin typeface="Aptos"/>
              </a:defRPr>
            </a:pPr>
            <a:r>
              <a:t>Lessons 28–32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MAIN TOPIC 01 / 03</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Basic Python</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15 subtopics  •  Python fundamentals and core programming skills</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685800" y="2331720"/>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01</a:t>
            </a:r>
          </a:p>
        </p:txBody>
      </p:sp>
      <p:sp>
        <p:nvSpPr>
          <p:cNvPr id="11" name="TextBox 10"/>
          <p:cNvSpPr txBox="1"/>
          <p:nvPr/>
        </p:nvSpPr>
        <p:spPr>
          <a:xfrm>
            <a:off x="1216152" y="2414015"/>
            <a:ext cx="2856992" cy="538609"/>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Introduction to Python Programming</a:t>
            </a:r>
          </a:p>
        </p:txBody>
      </p:sp>
      <p:sp>
        <p:nvSpPr>
          <p:cNvPr id="12" name="Rounded Rectangle 11"/>
          <p:cNvSpPr/>
          <p:nvPr/>
        </p:nvSpPr>
        <p:spPr>
          <a:xfrm>
            <a:off x="685800" y="3044952"/>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136392"/>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02</a:t>
            </a:r>
          </a:p>
        </p:txBody>
      </p:sp>
      <p:sp>
        <p:nvSpPr>
          <p:cNvPr id="14" name="TextBox 13"/>
          <p:cNvSpPr txBox="1"/>
          <p:nvPr/>
        </p:nvSpPr>
        <p:spPr>
          <a:xfrm>
            <a:off x="1216152" y="3127248"/>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Python Installation</a:t>
            </a:r>
          </a:p>
        </p:txBody>
      </p:sp>
      <p:sp>
        <p:nvSpPr>
          <p:cNvPr id="15" name="Rounded Rectangle 14"/>
          <p:cNvSpPr/>
          <p:nvPr/>
        </p:nvSpPr>
        <p:spPr>
          <a:xfrm>
            <a:off x="685800" y="3758183"/>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849623"/>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03</a:t>
            </a:r>
          </a:p>
        </p:txBody>
      </p:sp>
      <p:sp>
        <p:nvSpPr>
          <p:cNvPr id="17" name="TextBox 16"/>
          <p:cNvSpPr txBox="1"/>
          <p:nvPr/>
        </p:nvSpPr>
        <p:spPr>
          <a:xfrm>
            <a:off x="1216152" y="3840479"/>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Python Syntax</a:t>
            </a:r>
          </a:p>
        </p:txBody>
      </p:sp>
      <p:sp>
        <p:nvSpPr>
          <p:cNvPr id="18" name="Rounded Rectangle 17"/>
          <p:cNvSpPr/>
          <p:nvPr/>
        </p:nvSpPr>
        <p:spPr>
          <a:xfrm>
            <a:off x="685800" y="4471416"/>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562855"/>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04</a:t>
            </a:r>
          </a:p>
        </p:txBody>
      </p:sp>
      <p:sp>
        <p:nvSpPr>
          <p:cNvPr id="20" name="TextBox 19"/>
          <p:cNvSpPr txBox="1"/>
          <p:nvPr/>
        </p:nvSpPr>
        <p:spPr>
          <a:xfrm>
            <a:off x="1216152" y="4553712"/>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Variables &amp; Constants</a:t>
            </a:r>
          </a:p>
        </p:txBody>
      </p:sp>
      <p:sp>
        <p:nvSpPr>
          <p:cNvPr id="21" name="Rounded Rectangle 20"/>
          <p:cNvSpPr/>
          <p:nvPr/>
        </p:nvSpPr>
        <p:spPr>
          <a:xfrm>
            <a:off x="685800" y="5184648"/>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276088"/>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05</a:t>
            </a:r>
          </a:p>
        </p:txBody>
      </p:sp>
      <p:sp>
        <p:nvSpPr>
          <p:cNvPr id="23" name="TextBox 22"/>
          <p:cNvSpPr txBox="1"/>
          <p:nvPr/>
        </p:nvSpPr>
        <p:spPr>
          <a:xfrm>
            <a:off x="1216152" y="5266944"/>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Data Types</a:t>
            </a:r>
          </a:p>
        </p:txBody>
      </p:sp>
      <p:sp>
        <p:nvSpPr>
          <p:cNvPr id="24" name="Rounded Rectangle 23"/>
          <p:cNvSpPr/>
          <p:nvPr/>
        </p:nvSpPr>
        <p:spPr>
          <a:xfrm>
            <a:off x="4347464" y="2331720"/>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4484624"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06</a:t>
            </a:r>
          </a:p>
        </p:txBody>
      </p:sp>
      <p:sp>
        <p:nvSpPr>
          <p:cNvPr id="26" name="TextBox 25"/>
          <p:cNvSpPr txBox="1"/>
          <p:nvPr/>
        </p:nvSpPr>
        <p:spPr>
          <a:xfrm>
            <a:off x="4877816" y="2414015"/>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Operators &amp; Expressions</a:t>
            </a:r>
          </a:p>
        </p:txBody>
      </p:sp>
      <p:sp>
        <p:nvSpPr>
          <p:cNvPr id="27" name="Rounded Rectangle 26"/>
          <p:cNvSpPr/>
          <p:nvPr/>
        </p:nvSpPr>
        <p:spPr>
          <a:xfrm>
            <a:off x="4347464" y="3044952"/>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4624" y="3136392"/>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07</a:t>
            </a:r>
          </a:p>
        </p:txBody>
      </p:sp>
      <p:sp>
        <p:nvSpPr>
          <p:cNvPr id="29" name="TextBox 28"/>
          <p:cNvSpPr txBox="1"/>
          <p:nvPr/>
        </p:nvSpPr>
        <p:spPr>
          <a:xfrm>
            <a:off x="4877816" y="3127248"/>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Input &amp; Output</a:t>
            </a:r>
          </a:p>
        </p:txBody>
      </p:sp>
      <p:sp>
        <p:nvSpPr>
          <p:cNvPr id="30" name="Rounded Rectangle 29"/>
          <p:cNvSpPr/>
          <p:nvPr/>
        </p:nvSpPr>
        <p:spPr>
          <a:xfrm>
            <a:off x="4347464" y="3758183"/>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84624" y="3849623"/>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08</a:t>
            </a:r>
          </a:p>
        </p:txBody>
      </p:sp>
      <p:sp>
        <p:nvSpPr>
          <p:cNvPr id="32" name="TextBox 31"/>
          <p:cNvSpPr txBox="1"/>
          <p:nvPr/>
        </p:nvSpPr>
        <p:spPr>
          <a:xfrm>
            <a:off x="4877816" y="3840479"/>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Conditional Statements</a:t>
            </a:r>
          </a:p>
        </p:txBody>
      </p:sp>
      <p:sp>
        <p:nvSpPr>
          <p:cNvPr id="33" name="Rounded Rectangle 32"/>
          <p:cNvSpPr/>
          <p:nvPr/>
        </p:nvSpPr>
        <p:spPr>
          <a:xfrm>
            <a:off x="4347464" y="4471416"/>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84624" y="4562855"/>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09</a:t>
            </a:r>
          </a:p>
        </p:txBody>
      </p:sp>
      <p:sp>
        <p:nvSpPr>
          <p:cNvPr id="35" name="TextBox 34"/>
          <p:cNvSpPr txBox="1"/>
          <p:nvPr/>
        </p:nvSpPr>
        <p:spPr>
          <a:xfrm>
            <a:off x="4877816" y="4553712"/>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Loops &amp; Iteration</a:t>
            </a:r>
          </a:p>
        </p:txBody>
      </p:sp>
      <p:sp>
        <p:nvSpPr>
          <p:cNvPr id="36" name="Rounded Rectangle 35"/>
          <p:cNvSpPr/>
          <p:nvPr/>
        </p:nvSpPr>
        <p:spPr>
          <a:xfrm>
            <a:off x="4347464" y="5184648"/>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84624" y="5276088"/>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10</a:t>
            </a:r>
          </a:p>
        </p:txBody>
      </p:sp>
      <p:sp>
        <p:nvSpPr>
          <p:cNvPr id="38" name="TextBox 37"/>
          <p:cNvSpPr txBox="1"/>
          <p:nvPr/>
        </p:nvSpPr>
        <p:spPr>
          <a:xfrm>
            <a:off x="4877816" y="5266944"/>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Functions</a:t>
            </a:r>
          </a:p>
        </p:txBody>
      </p:sp>
      <p:sp>
        <p:nvSpPr>
          <p:cNvPr id="39" name="Rounded Rectangle 38"/>
          <p:cNvSpPr/>
          <p:nvPr/>
        </p:nvSpPr>
        <p:spPr>
          <a:xfrm>
            <a:off x="8009128" y="2331720"/>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46288"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11</a:t>
            </a:r>
          </a:p>
        </p:txBody>
      </p:sp>
      <p:sp>
        <p:nvSpPr>
          <p:cNvPr id="41" name="TextBox 40"/>
          <p:cNvSpPr txBox="1"/>
          <p:nvPr/>
        </p:nvSpPr>
        <p:spPr>
          <a:xfrm>
            <a:off x="8539480" y="2414015"/>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Strings &amp; Text Processing</a:t>
            </a:r>
          </a:p>
        </p:txBody>
      </p:sp>
      <p:sp>
        <p:nvSpPr>
          <p:cNvPr id="42" name="Rounded Rectangle 41"/>
          <p:cNvSpPr/>
          <p:nvPr/>
        </p:nvSpPr>
        <p:spPr>
          <a:xfrm>
            <a:off x="8009128" y="3044952"/>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46288" y="3136392"/>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12</a:t>
            </a:r>
          </a:p>
        </p:txBody>
      </p:sp>
      <p:sp>
        <p:nvSpPr>
          <p:cNvPr id="44" name="TextBox 43"/>
          <p:cNvSpPr txBox="1"/>
          <p:nvPr/>
        </p:nvSpPr>
        <p:spPr>
          <a:xfrm>
            <a:off x="8539480" y="3127248"/>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Lists</a:t>
            </a:r>
          </a:p>
        </p:txBody>
      </p:sp>
      <p:sp>
        <p:nvSpPr>
          <p:cNvPr id="45" name="Rounded Rectangle 44"/>
          <p:cNvSpPr/>
          <p:nvPr/>
        </p:nvSpPr>
        <p:spPr>
          <a:xfrm>
            <a:off x="8009128" y="3758183"/>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46288" y="3849623"/>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13</a:t>
            </a:r>
          </a:p>
        </p:txBody>
      </p:sp>
      <p:sp>
        <p:nvSpPr>
          <p:cNvPr id="47" name="TextBox 46"/>
          <p:cNvSpPr txBox="1"/>
          <p:nvPr/>
        </p:nvSpPr>
        <p:spPr>
          <a:xfrm>
            <a:off x="8539480" y="3840479"/>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Tuples &amp; Sets</a:t>
            </a:r>
          </a:p>
        </p:txBody>
      </p:sp>
      <p:sp>
        <p:nvSpPr>
          <p:cNvPr id="48" name="Rounded Rectangle 47"/>
          <p:cNvSpPr/>
          <p:nvPr/>
        </p:nvSpPr>
        <p:spPr>
          <a:xfrm>
            <a:off x="8009128" y="4471416"/>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46288" y="4562855"/>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14</a:t>
            </a:r>
          </a:p>
        </p:txBody>
      </p:sp>
      <p:sp>
        <p:nvSpPr>
          <p:cNvPr id="50" name="TextBox 49"/>
          <p:cNvSpPr txBox="1"/>
          <p:nvPr/>
        </p:nvSpPr>
        <p:spPr>
          <a:xfrm>
            <a:off x="8539480" y="4553712"/>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Dictionaries</a:t>
            </a:r>
          </a:p>
        </p:txBody>
      </p:sp>
      <p:sp>
        <p:nvSpPr>
          <p:cNvPr id="51" name="Rounded Rectangle 50"/>
          <p:cNvSpPr/>
          <p:nvPr/>
        </p:nvSpPr>
        <p:spPr>
          <a:xfrm>
            <a:off x="8009128" y="5184648"/>
            <a:ext cx="3497072"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46288" y="5276088"/>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15</a:t>
            </a:r>
          </a:p>
        </p:txBody>
      </p:sp>
      <p:sp>
        <p:nvSpPr>
          <p:cNvPr id="53" name="TextBox 52"/>
          <p:cNvSpPr txBox="1"/>
          <p:nvPr/>
        </p:nvSpPr>
        <p:spPr>
          <a:xfrm>
            <a:off x="8539480" y="5266944"/>
            <a:ext cx="2856992"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Nested Data Structures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Basic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01–03 of 15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01</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Introduction to Python Programming</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dirty="0"/>
              <a:t>Python is a programming language used to create software and automate tasks. It is popular because its code is relatively easy to read. Students explore its history and common uses in websites, data, and artificial intelligence.</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02</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Python Installation</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dirty="0"/>
              <a:t>Python must be installed before programs can run locally. Students learn to choose an editor or integrated development environment (IDE). They verify their setup by running a simple Python program.</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03</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Python Syntax</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Syntax refers to the rules used to write valid Python code. Python uses indentation to group related instructions. Students practice comments, code structure, and correcting common syntax errors.</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Basic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04–06 of 15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04</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Variables &amp; Constants</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dirty="0"/>
              <a:t>Variables give names to values stored in a program. Their values can change as the program runs. Students learn naming conventions and how uppercase names are commonly used for constants.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05</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Data Types</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dirty="0"/>
              <a:t>Data types describe the kind of value a program handles. Common examples include integers, decimals, strings, and Boolean values. Students identify types and convert values when appropriate.</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06</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Operators &amp; Expressions</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Operators perform mathematical calculations and logical comparisons. Expressions combine values and operators to produce results. Students learn how operator precedence affects evaluation.</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Basic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07–09 of 15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07</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Input &amp; Output</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Input allows a program to receive information from a user. Output displays results or messages on the screen. Students practice input(), print(), and formatted strings.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08</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Conditional Statements</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Conditional statements help programs make decisions. Python uses if, elif, and else to select different actions. Students combine conditions with Boolean logic to control program flow.</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09</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Loops &amp; Iteration</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Loops repeat a set of instructions automatically. Students use for and while loops for different repetition tasks. They also explore range(), break, and continue to control loops.</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Basic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10–12 of 15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10</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Functions</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Functions group instructions into reusable blocks of code. They can accept parameters and return results. Students learn to call functions and understand local and global scope.</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11</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Strings &amp; Text Processing</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Strings represent words, characters, and other text. Python provides methods for searching, formatting, and modifying text. Students practice slicing and manipulating strings.</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12</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Lists</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Lists store multiple values in a specific order. Their contents can be changed after creation. Students practice indexing, slicing, and methods for adding or removing items.</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Basic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13–15 of 15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13</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Tuples &amp; Sets</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dirty="0"/>
              <a:t>Tuples hold ordered collections whose elements cannot be reassigned. Sets store unique values and support operations such as union and intersection. Students compare when each collection is useful.</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14</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Dictionaries</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Dictionaries store information as key-value pairs. Each key provides a way to access its associated value. Students create, update, and retrieve structured records.</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15</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Nested Data Structures</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Nested structures place collections inside other collections. They help represent more complex information, such as records containing lists. Students practice accessing nested values and using comprehensions to transform data.</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MAIN TOPIC 02 / 03</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Intermediate Python</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12 subtopics  •  Program organization, problem-solving, and OOP</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685800" y="233172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16</a:t>
            </a:r>
          </a:p>
        </p:txBody>
      </p:sp>
      <p:sp>
        <p:nvSpPr>
          <p:cNvPr id="11" name="TextBox 10"/>
          <p:cNvSpPr txBox="1"/>
          <p:nvPr/>
        </p:nvSpPr>
        <p:spPr>
          <a:xfrm>
            <a:off x="1216152" y="241401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Modules &amp; Packages</a:t>
            </a:r>
          </a:p>
        </p:txBody>
      </p:sp>
      <p:sp>
        <p:nvSpPr>
          <p:cNvPr id="12" name="Rounded Rectangle 11"/>
          <p:cNvSpPr/>
          <p:nvPr/>
        </p:nvSpPr>
        <p:spPr>
          <a:xfrm>
            <a:off x="685800" y="2926079"/>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01752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17</a:t>
            </a:r>
          </a:p>
        </p:txBody>
      </p:sp>
      <p:sp>
        <p:nvSpPr>
          <p:cNvPr id="14" name="TextBox 13"/>
          <p:cNvSpPr txBox="1"/>
          <p:nvPr/>
        </p:nvSpPr>
        <p:spPr>
          <a:xfrm>
            <a:off x="1216152" y="300837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File Handling</a:t>
            </a:r>
          </a:p>
        </p:txBody>
      </p:sp>
      <p:sp>
        <p:nvSpPr>
          <p:cNvPr id="15" name="Rounded Rectangle 14"/>
          <p:cNvSpPr/>
          <p:nvPr/>
        </p:nvSpPr>
        <p:spPr>
          <a:xfrm>
            <a:off x="685800" y="3520439"/>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11879"/>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18</a:t>
            </a:r>
          </a:p>
        </p:txBody>
      </p:sp>
      <p:sp>
        <p:nvSpPr>
          <p:cNvPr id="17" name="TextBox 16"/>
          <p:cNvSpPr txBox="1"/>
          <p:nvPr/>
        </p:nvSpPr>
        <p:spPr>
          <a:xfrm>
            <a:off x="1216152" y="360273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Exception Handling</a:t>
            </a:r>
          </a:p>
        </p:txBody>
      </p:sp>
      <p:sp>
        <p:nvSpPr>
          <p:cNvPr id="18" name="Rounded Rectangle 17"/>
          <p:cNvSpPr/>
          <p:nvPr/>
        </p:nvSpPr>
        <p:spPr>
          <a:xfrm>
            <a:off x="685800" y="411480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20624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19</a:t>
            </a:r>
          </a:p>
        </p:txBody>
      </p:sp>
      <p:sp>
        <p:nvSpPr>
          <p:cNvPr id="20" name="TextBox 19"/>
          <p:cNvSpPr txBox="1"/>
          <p:nvPr/>
        </p:nvSpPr>
        <p:spPr>
          <a:xfrm>
            <a:off x="1216152" y="419709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Recursion</a:t>
            </a:r>
          </a:p>
        </p:txBody>
      </p:sp>
      <p:sp>
        <p:nvSpPr>
          <p:cNvPr id="21" name="Rounded Rectangle 20"/>
          <p:cNvSpPr/>
          <p:nvPr/>
        </p:nvSpPr>
        <p:spPr>
          <a:xfrm>
            <a:off x="685800" y="470916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80060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20</a:t>
            </a:r>
          </a:p>
        </p:txBody>
      </p:sp>
      <p:sp>
        <p:nvSpPr>
          <p:cNvPr id="23" name="TextBox 22"/>
          <p:cNvSpPr txBox="1"/>
          <p:nvPr/>
        </p:nvSpPr>
        <p:spPr>
          <a:xfrm>
            <a:off x="1216152" y="479145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Algorithms</a:t>
            </a:r>
          </a:p>
        </p:txBody>
      </p:sp>
      <p:sp>
        <p:nvSpPr>
          <p:cNvPr id="24" name="Rounded Rectangle 23"/>
          <p:cNvSpPr/>
          <p:nvPr/>
        </p:nvSpPr>
        <p:spPr>
          <a:xfrm>
            <a:off x="685800" y="530352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394959"/>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21</a:t>
            </a:r>
          </a:p>
        </p:txBody>
      </p:sp>
      <p:sp>
        <p:nvSpPr>
          <p:cNvPr id="26" name="TextBox 25"/>
          <p:cNvSpPr txBox="1"/>
          <p:nvPr/>
        </p:nvSpPr>
        <p:spPr>
          <a:xfrm>
            <a:off x="1216152" y="538581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Object-Oriented Programming</a:t>
            </a:r>
          </a:p>
        </p:txBody>
      </p:sp>
      <p:sp>
        <p:nvSpPr>
          <p:cNvPr id="27" name="Rounded Rectangle 26"/>
          <p:cNvSpPr/>
          <p:nvPr/>
        </p:nvSpPr>
        <p:spPr>
          <a:xfrm>
            <a:off x="6178296" y="233172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15456"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22</a:t>
            </a:r>
          </a:p>
        </p:txBody>
      </p:sp>
      <p:sp>
        <p:nvSpPr>
          <p:cNvPr id="29" name="TextBox 28"/>
          <p:cNvSpPr txBox="1"/>
          <p:nvPr/>
        </p:nvSpPr>
        <p:spPr>
          <a:xfrm>
            <a:off x="6708648" y="241401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Constructors</a:t>
            </a:r>
          </a:p>
        </p:txBody>
      </p:sp>
      <p:sp>
        <p:nvSpPr>
          <p:cNvPr id="30" name="Rounded Rectangle 29"/>
          <p:cNvSpPr/>
          <p:nvPr/>
        </p:nvSpPr>
        <p:spPr>
          <a:xfrm>
            <a:off x="6178296" y="2926079"/>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15456" y="301752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23</a:t>
            </a:r>
          </a:p>
        </p:txBody>
      </p:sp>
      <p:sp>
        <p:nvSpPr>
          <p:cNvPr id="32" name="TextBox 31"/>
          <p:cNvSpPr txBox="1"/>
          <p:nvPr/>
        </p:nvSpPr>
        <p:spPr>
          <a:xfrm>
            <a:off x="6708648" y="300837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OOP Principles</a:t>
            </a:r>
          </a:p>
        </p:txBody>
      </p:sp>
      <p:sp>
        <p:nvSpPr>
          <p:cNvPr id="33" name="Rounded Rectangle 32"/>
          <p:cNvSpPr/>
          <p:nvPr/>
        </p:nvSpPr>
        <p:spPr>
          <a:xfrm>
            <a:off x="6178296" y="3520439"/>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15456" y="3611879"/>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24</a:t>
            </a:r>
          </a:p>
        </p:txBody>
      </p:sp>
      <p:sp>
        <p:nvSpPr>
          <p:cNvPr id="35" name="TextBox 34"/>
          <p:cNvSpPr txBox="1"/>
          <p:nvPr/>
        </p:nvSpPr>
        <p:spPr>
          <a:xfrm>
            <a:off x="6708648" y="3602735"/>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Advanced Python Tools</a:t>
            </a:r>
          </a:p>
        </p:txBody>
      </p:sp>
      <p:sp>
        <p:nvSpPr>
          <p:cNvPr id="36" name="Rounded Rectangle 35"/>
          <p:cNvSpPr/>
          <p:nvPr/>
        </p:nvSpPr>
        <p:spPr>
          <a:xfrm>
            <a:off x="6178296" y="411480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15456" y="420624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25</a:t>
            </a:r>
          </a:p>
        </p:txBody>
      </p:sp>
      <p:sp>
        <p:nvSpPr>
          <p:cNvPr id="38" name="TextBox 37"/>
          <p:cNvSpPr txBox="1"/>
          <p:nvPr/>
        </p:nvSpPr>
        <p:spPr>
          <a:xfrm>
            <a:off x="6708648" y="419709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Functional Programming</a:t>
            </a:r>
          </a:p>
        </p:txBody>
      </p:sp>
      <p:sp>
        <p:nvSpPr>
          <p:cNvPr id="39" name="Rounded Rectangle 38"/>
          <p:cNvSpPr/>
          <p:nvPr/>
        </p:nvSpPr>
        <p:spPr>
          <a:xfrm>
            <a:off x="6178296" y="470916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15456" y="480060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26</a:t>
            </a:r>
          </a:p>
        </p:txBody>
      </p:sp>
      <p:sp>
        <p:nvSpPr>
          <p:cNvPr id="41" name="TextBox 40"/>
          <p:cNvSpPr txBox="1"/>
          <p:nvPr/>
        </p:nvSpPr>
        <p:spPr>
          <a:xfrm>
            <a:off x="6708648" y="479145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a:t>Regex &amp; Date/Time</a:t>
            </a:r>
          </a:p>
        </p:txBody>
      </p:sp>
      <p:sp>
        <p:nvSpPr>
          <p:cNvPr id="42" name="Rounded Rectangle 41"/>
          <p:cNvSpPr/>
          <p:nvPr/>
        </p:nvSpPr>
        <p:spPr>
          <a:xfrm>
            <a:off x="6178296" y="5303520"/>
            <a:ext cx="5327904" cy="512064"/>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15456" y="5394959"/>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27</a:t>
            </a:r>
          </a:p>
        </p:txBody>
      </p:sp>
      <p:sp>
        <p:nvSpPr>
          <p:cNvPr id="44" name="TextBox 43"/>
          <p:cNvSpPr txBox="1"/>
          <p:nvPr/>
        </p:nvSpPr>
        <p:spPr>
          <a:xfrm>
            <a:off x="6708648" y="5385816"/>
            <a:ext cx="4687824" cy="292388"/>
          </a:xfrm>
          <a:prstGeom prst="rect">
            <a:avLst/>
          </a:prstGeom>
          <a:noFill/>
        </p:spPr>
        <p:txBody>
          <a:bodyPr wrap="square" lIns="0" tIns="0" rIns="0">
            <a:spAutoFit/>
          </a:bodyPr>
          <a:lstStyle/>
          <a:p>
            <a:pPr>
              <a:spcAft>
                <a:spcPts val="700"/>
              </a:spcAft>
              <a:defRPr sz="1200" b="1">
                <a:solidFill>
                  <a:srgbClr val="F3F8FC"/>
                </a:solidFill>
                <a:latin typeface="Aptos"/>
              </a:defRPr>
            </a:pPr>
            <a:r>
              <a:rPr sz="1600" dirty="0"/>
              <a:t>Package 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Intermediate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01–03 of 12</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16</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Modules &amp; Packages</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Modules organize reusable Python code into separate files. Packages group related modules into larger structures. Students practice importing standard-library tools and organizing their own programs.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17</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File Handling</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File handling lets programs read and save information. Students open text files, write new content, and process existing data. They learn to use with statements to manage files safely.</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18</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Exception Handling</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Exceptions occur when a program encounters certain errors. Python can respond to them using try and except blocks. Students read error messages and practice debugging problems.</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Intermediate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04–06 of 12</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19</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Recursion</a:t>
            </a:r>
          </a:p>
        </p:txBody>
      </p:sp>
      <p:sp>
        <p:nvSpPr>
          <p:cNvPr id="8" name="TextBox 7"/>
          <p:cNvSpPr txBox="1"/>
          <p:nvPr/>
        </p:nvSpPr>
        <p:spPr>
          <a:xfrm>
            <a:off x="1389888" y="2350008"/>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Recursion happens when a function calls itself. A base case stops the repeated calls from continuing forever. Students trace simple recursive solutions and compare them with loops.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20</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Algorithms</a:t>
            </a:r>
          </a:p>
        </p:txBody>
      </p:sp>
      <p:sp>
        <p:nvSpPr>
          <p:cNvPr id="12" name="TextBox 11"/>
          <p:cNvSpPr txBox="1"/>
          <p:nvPr/>
        </p:nvSpPr>
        <p:spPr>
          <a:xfrm>
            <a:off x="1389888" y="3895344"/>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Algorithms are step-by-step procedures for solving problems. Students explore common searching and sorting techniques. They also discuss how different solutions can vary in efficiency.</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21</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Object-Oriented Programming</a:t>
            </a:r>
          </a:p>
        </p:txBody>
      </p:sp>
      <p:sp>
        <p:nvSpPr>
          <p:cNvPr id="16" name="TextBox 15"/>
          <p:cNvSpPr txBox="1"/>
          <p:nvPr/>
        </p:nvSpPr>
        <p:spPr>
          <a:xfrm>
            <a:off x="1389888" y="5440680"/>
            <a:ext cx="9326880" cy="495520"/>
          </a:xfrm>
          <a:prstGeom prst="rect">
            <a:avLst/>
          </a:prstGeom>
          <a:noFill/>
        </p:spPr>
        <p:txBody>
          <a:bodyPr wrap="square" lIns="27432" tIns="18288" rIns="27432">
            <a:spAutoFit/>
          </a:bodyPr>
          <a:lstStyle/>
          <a:p>
            <a:pPr>
              <a:defRPr sz="1250" b="0">
                <a:solidFill>
                  <a:srgbClr val="B2C0D5"/>
                </a:solidFill>
                <a:latin typeface="Aptos"/>
              </a:defRPr>
            </a:pPr>
            <a:r>
              <a:rPr sz="1400"/>
              <a:t>Object-oriented programming organizes code around objects and classes. A class defines the data and behavior its objects can have. Students create basic classes and instances.</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Intermediate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07–09 of 12</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22</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Constructors</a:t>
            </a:r>
          </a:p>
        </p:txBody>
      </p:sp>
      <p:sp>
        <p:nvSpPr>
          <p:cNvPr id="8" name="TextBox 7"/>
          <p:cNvSpPr txBox="1"/>
          <p:nvPr/>
        </p:nvSpPr>
        <p:spPr>
          <a:xfrm>
            <a:off x="1389888" y="2350008"/>
            <a:ext cx="9326880" cy="758952"/>
          </a:xfrm>
          <a:prstGeom prst="rect">
            <a:avLst/>
          </a:prstGeom>
          <a:noFill/>
        </p:spPr>
        <p:txBody>
          <a:bodyPr wrap="square" lIns="27432" tIns="18288" rIns="27432">
            <a:spAutoFit/>
          </a:bodyPr>
          <a:lstStyle/>
          <a:p>
            <a:pPr>
              <a:defRPr sz="1250" b="0">
                <a:solidFill>
                  <a:srgbClr val="B2C0D5"/>
                </a:solidFill>
                <a:latin typeface="Aptos"/>
              </a:defRPr>
            </a:pPr>
            <a:r>
              <a:t>Constructors help initialize objects when they are created. In Python, the __init__ method commonly sets instance attributes. Students write constructors and methods that work with object data.</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23</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OOP Principles</a:t>
            </a:r>
          </a:p>
        </p:txBody>
      </p:sp>
      <p:sp>
        <p:nvSpPr>
          <p:cNvPr id="12" name="TextBox 11"/>
          <p:cNvSpPr txBox="1"/>
          <p:nvPr/>
        </p:nvSpPr>
        <p:spPr>
          <a:xfrm>
            <a:off x="1389888" y="3895344"/>
            <a:ext cx="9326880" cy="758952"/>
          </a:xfrm>
          <a:prstGeom prst="rect">
            <a:avLst/>
          </a:prstGeom>
          <a:noFill/>
        </p:spPr>
        <p:txBody>
          <a:bodyPr wrap="square" lIns="27432" tIns="18288" rIns="27432">
            <a:spAutoFit/>
          </a:bodyPr>
          <a:lstStyle/>
          <a:p>
            <a:pPr>
              <a:defRPr sz="1250" b="0">
                <a:solidFill>
                  <a:srgbClr val="B2C0D5"/>
                </a:solidFill>
                <a:latin typeface="Aptos"/>
              </a:defRPr>
            </a:pPr>
            <a:r>
              <a:t>OOP principles help structure programs for reuse and maintenance. Students explore inheritance, encapsulation, polymorphism, and abstraction. They practice extending classes and overriding methods.</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24</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Advanced Python Tools</a:t>
            </a:r>
          </a:p>
        </p:txBody>
      </p:sp>
      <p:sp>
        <p:nvSpPr>
          <p:cNvPr id="16" name="TextBox 15"/>
          <p:cNvSpPr txBox="1"/>
          <p:nvPr/>
        </p:nvSpPr>
        <p:spPr>
          <a:xfrm>
            <a:off x="1389888" y="5440680"/>
            <a:ext cx="9326880" cy="758952"/>
          </a:xfrm>
          <a:prstGeom prst="rect">
            <a:avLst/>
          </a:prstGeom>
          <a:noFill/>
        </p:spPr>
        <p:txBody>
          <a:bodyPr wrap="square" lIns="27432" tIns="18288" rIns="27432">
            <a:spAutoFit/>
          </a:bodyPr>
          <a:lstStyle/>
          <a:p>
            <a:pPr>
              <a:defRPr sz="1250" b="0">
                <a:solidFill>
                  <a:srgbClr val="B2C0D5"/>
                </a:solidFill>
                <a:latin typeface="Aptos"/>
              </a:defRPr>
            </a:pPr>
            <a:r>
              <a:t>Iterators let programs access values one at a time. Generators create sequences without storing every value at once. Students are introduced to decorators and context managers for reusable behavior.</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Intermediate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10–12 of 12</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25</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Functional Programming</a:t>
            </a:r>
          </a:p>
        </p:txBody>
      </p:sp>
      <p:sp>
        <p:nvSpPr>
          <p:cNvPr id="8" name="TextBox 7"/>
          <p:cNvSpPr txBox="1"/>
          <p:nvPr/>
        </p:nvSpPr>
        <p:spPr>
          <a:xfrm>
            <a:off x="1389888" y="2350008"/>
            <a:ext cx="9326880" cy="758952"/>
          </a:xfrm>
          <a:prstGeom prst="rect">
            <a:avLst/>
          </a:prstGeom>
          <a:noFill/>
        </p:spPr>
        <p:txBody>
          <a:bodyPr wrap="square" lIns="27432" tIns="18288" rIns="27432">
            <a:spAutoFit/>
          </a:bodyPr>
          <a:lstStyle/>
          <a:p>
            <a:pPr>
              <a:defRPr sz="1250" b="0">
                <a:solidFill>
                  <a:srgbClr val="B2C0D5"/>
                </a:solidFill>
                <a:latin typeface="Aptos"/>
              </a:defRPr>
            </a:pPr>
            <a:r>
              <a:t>Functional programming treats functions as values that can be passed around. Lambda expressions create short anonymous functions. Students explore map(), filter(), and alternatives such as comprehensions.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26</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Regex &amp; Date/Time</a:t>
            </a:r>
          </a:p>
        </p:txBody>
      </p:sp>
      <p:sp>
        <p:nvSpPr>
          <p:cNvPr id="12" name="TextBox 11"/>
          <p:cNvSpPr txBox="1"/>
          <p:nvPr/>
        </p:nvSpPr>
        <p:spPr>
          <a:xfrm>
            <a:off x="1389888" y="3895344"/>
            <a:ext cx="9326880" cy="758952"/>
          </a:xfrm>
          <a:prstGeom prst="rect">
            <a:avLst/>
          </a:prstGeom>
          <a:noFill/>
        </p:spPr>
        <p:txBody>
          <a:bodyPr wrap="square" lIns="27432" tIns="18288" rIns="27432">
            <a:spAutoFit/>
          </a:bodyPr>
          <a:lstStyle/>
          <a:p>
            <a:pPr>
              <a:defRPr sz="1250" b="0">
                <a:solidFill>
                  <a:srgbClr val="B2C0D5"/>
                </a:solidFill>
                <a:latin typeface="Aptos"/>
              </a:defRPr>
            </a:pPr>
            <a:r>
              <a:t>Regular expressions help find patterns within text. Python date and time tools support formatting and calculations involving dates. Students practice searching text and computing time differences.</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27</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Package Management</a:t>
            </a:r>
          </a:p>
        </p:txBody>
      </p:sp>
      <p:sp>
        <p:nvSpPr>
          <p:cNvPr id="16" name="TextBox 15"/>
          <p:cNvSpPr txBox="1"/>
          <p:nvPr/>
        </p:nvSpPr>
        <p:spPr>
          <a:xfrm>
            <a:off x="1389888" y="5440680"/>
            <a:ext cx="9326880" cy="758952"/>
          </a:xfrm>
          <a:prstGeom prst="rect">
            <a:avLst/>
          </a:prstGeom>
          <a:noFill/>
        </p:spPr>
        <p:txBody>
          <a:bodyPr wrap="square" lIns="27432" tIns="18288" rIns="27432">
            <a:spAutoFit/>
          </a:bodyPr>
          <a:lstStyle/>
          <a:p>
            <a:pPr>
              <a:defRPr sz="1250" b="0">
                <a:solidFill>
                  <a:srgbClr val="B2C0D5"/>
                </a:solidFill>
                <a:latin typeface="Aptos"/>
              </a:defRPr>
            </a:pPr>
            <a:r>
              <a:t>Package managers install libraries that extend Python. Students use pip to manage dependencies for their projects. They also create virtual environments to keep projects separate.</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MAIN TOPIC 03 / 03</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Advanced Python</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5 subtopics  •  Real-world development and Python data visualization</a:t>
            </a:r>
          </a:p>
        </p:txBody>
      </p:sp>
      <p:sp>
        <p:nvSpPr>
          <p:cNvPr id="9" name="Rounded Rectangle 8"/>
          <p:cNvSpPr/>
          <p:nvPr/>
        </p:nvSpPr>
        <p:spPr>
          <a:xfrm>
            <a:off x="685800" y="2331720"/>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23160"/>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28</a:t>
            </a:r>
          </a:p>
        </p:txBody>
      </p:sp>
      <p:sp>
        <p:nvSpPr>
          <p:cNvPr id="11" name="TextBox 10"/>
          <p:cNvSpPr txBox="1"/>
          <p:nvPr/>
        </p:nvSpPr>
        <p:spPr>
          <a:xfrm>
            <a:off x="1216152" y="2414015"/>
            <a:ext cx="10180320" cy="557784"/>
          </a:xfrm>
          <a:prstGeom prst="rect">
            <a:avLst/>
          </a:prstGeom>
          <a:noFill/>
        </p:spPr>
        <p:txBody>
          <a:bodyPr wrap="square" lIns="0" tIns="0" rIns="0">
            <a:spAutoFit/>
          </a:bodyPr>
          <a:lstStyle/>
          <a:p>
            <a:pPr>
              <a:spcAft>
                <a:spcPts val="700"/>
              </a:spcAft>
              <a:defRPr sz="1600" b="1">
                <a:solidFill>
                  <a:srgbClr val="F3F8FC"/>
                </a:solidFill>
                <a:latin typeface="Aptos"/>
              </a:defRPr>
            </a:pPr>
            <a:r>
              <a:t>Database Integration</a:t>
            </a:r>
          </a:p>
        </p:txBody>
      </p:sp>
      <p:sp>
        <p:nvSpPr>
          <p:cNvPr id="12" name="Rounded Rectangle 11"/>
          <p:cNvSpPr/>
          <p:nvPr/>
        </p:nvSpPr>
        <p:spPr>
          <a:xfrm>
            <a:off x="685800" y="3044952"/>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136392"/>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29</a:t>
            </a:r>
          </a:p>
        </p:txBody>
      </p:sp>
      <p:sp>
        <p:nvSpPr>
          <p:cNvPr id="14" name="TextBox 13"/>
          <p:cNvSpPr txBox="1"/>
          <p:nvPr/>
        </p:nvSpPr>
        <p:spPr>
          <a:xfrm>
            <a:off x="1216152" y="3127248"/>
            <a:ext cx="10180320" cy="557784"/>
          </a:xfrm>
          <a:prstGeom prst="rect">
            <a:avLst/>
          </a:prstGeom>
          <a:noFill/>
        </p:spPr>
        <p:txBody>
          <a:bodyPr wrap="square" lIns="0" tIns="0" rIns="0">
            <a:spAutoFit/>
          </a:bodyPr>
          <a:lstStyle/>
          <a:p>
            <a:pPr>
              <a:spcAft>
                <a:spcPts val="700"/>
              </a:spcAft>
              <a:defRPr sz="1600" b="1">
                <a:solidFill>
                  <a:srgbClr val="F3F8FC"/>
                </a:solidFill>
                <a:latin typeface="Aptos"/>
              </a:defRPr>
            </a:pPr>
            <a:r>
              <a:t>APIs &amp; Web Data</a:t>
            </a:r>
          </a:p>
        </p:txBody>
      </p:sp>
      <p:sp>
        <p:nvSpPr>
          <p:cNvPr id="15" name="Rounded Rectangle 14"/>
          <p:cNvSpPr/>
          <p:nvPr/>
        </p:nvSpPr>
        <p:spPr>
          <a:xfrm>
            <a:off x="685800" y="3758183"/>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849623"/>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30</a:t>
            </a:r>
          </a:p>
        </p:txBody>
      </p:sp>
      <p:sp>
        <p:nvSpPr>
          <p:cNvPr id="17" name="TextBox 16"/>
          <p:cNvSpPr txBox="1"/>
          <p:nvPr/>
        </p:nvSpPr>
        <p:spPr>
          <a:xfrm>
            <a:off x="1216152" y="3840479"/>
            <a:ext cx="10180320" cy="557784"/>
          </a:xfrm>
          <a:prstGeom prst="rect">
            <a:avLst/>
          </a:prstGeom>
          <a:noFill/>
        </p:spPr>
        <p:txBody>
          <a:bodyPr wrap="square" lIns="0" tIns="0" rIns="0">
            <a:spAutoFit/>
          </a:bodyPr>
          <a:lstStyle/>
          <a:p>
            <a:pPr>
              <a:spcAft>
                <a:spcPts val="700"/>
              </a:spcAft>
              <a:defRPr sz="1600" b="1">
                <a:solidFill>
                  <a:srgbClr val="F3F8FC"/>
                </a:solidFill>
                <a:latin typeface="Aptos"/>
              </a:defRPr>
            </a:pPr>
            <a:r>
              <a:t>Testing &amp; Deployment</a:t>
            </a:r>
          </a:p>
        </p:txBody>
      </p:sp>
      <p:sp>
        <p:nvSpPr>
          <p:cNvPr id="18" name="Rounded Rectangle 17"/>
          <p:cNvSpPr/>
          <p:nvPr/>
        </p:nvSpPr>
        <p:spPr>
          <a:xfrm>
            <a:off x="685800" y="4471416"/>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562855"/>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t>31</a:t>
            </a:r>
          </a:p>
        </p:txBody>
      </p:sp>
      <p:sp>
        <p:nvSpPr>
          <p:cNvPr id="20" name="TextBox 19"/>
          <p:cNvSpPr txBox="1"/>
          <p:nvPr/>
        </p:nvSpPr>
        <p:spPr>
          <a:xfrm>
            <a:off x="1216152" y="4553712"/>
            <a:ext cx="10180320" cy="557784"/>
          </a:xfrm>
          <a:prstGeom prst="rect">
            <a:avLst/>
          </a:prstGeom>
          <a:noFill/>
        </p:spPr>
        <p:txBody>
          <a:bodyPr wrap="square" lIns="0" tIns="0" rIns="0">
            <a:spAutoFit/>
          </a:bodyPr>
          <a:lstStyle/>
          <a:p>
            <a:pPr>
              <a:spcAft>
                <a:spcPts val="700"/>
              </a:spcAft>
              <a:defRPr sz="1600" b="1">
                <a:solidFill>
                  <a:srgbClr val="F3F8FC"/>
                </a:solidFill>
                <a:latin typeface="Aptos"/>
              </a:defRPr>
            </a:pPr>
            <a:r>
              <a:t>Python Graphs (Matplotlib, line &amp; scatter plots)</a:t>
            </a:r>
          </a:p>
        </p:txBody>
      </p:sp>
      <p:sp>
        <p:nvSpPr>
          <p:cNvPr id="21" name="Rounded Rectangle 20"/>
          <p:cNvSpPr/>
          <p:nvPr/>
        </p:nvSpPr>
        <p:spPr>
          <a:xfrm>
            <a:off x="685800" y="5184648"/>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276088"/>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rPr dirty="0"/>
              <a:t>32</a:t>
            </a:r>
          </a:p>
        </p:txBody>
      </p:sp>
      <p:sp>
        <p:nvSpPr>
          <p:cNvPr id="23" name="TextBox 22"/>
          <p:cNvSpPr txBox="1"/>
          <p:nvPr/>
        </p:nvSpPr>
        <p:spPr>
          <a:xfrm>
            <a:off x="1216152" y="5266944"/>
            <a:ext cx="10180320" cy="292388"/>
          </a:xfrm>
          <a:prstGeom prst="rect">
            <a:avLst/>
          </a:prstGeom>
          <a:noFill/>
        </p:spPr>
        <p:txBody>
          <a:bodyPr wrap="square" lIns="0" tIns="0" rIns="0">
            <a:spAutoFit/>
          </a:bodyPr>
          <a:lstStyle/>
          <a:p>
            <a:pPr>
              <a:spcAft>
                <a:spcPts val="700"/>
              </a:spcAft>
              <a:defRPr sz="1600" b="1">
                <a:solidFill>
                  <a:srgbClr val="F3F8FC"/>
                </a:solidFill>
                <a:latin typeface="Aptos"/>
              </a:defRPr>
            </a:pPr>
            <a:r>
              <a:rPr dirty="0"/>
              <a:t>Python Charts (</a:t>
            </a:r>
            <a:r>
              <a:rPr lang="en-PH" sz="1600" b="1" dirty="0">
                <a:solidFill>
                  <a:srgbClr val="F3F8FC"/>
                </a:solidFill>
                <a:latin typeface="Aptos"/>
              </a:rPr>
              <a:t>Seaborn</a:t>
            </a:r>
            <a:r>
              <a:rPr dirty="0"/>
              <a:t>, </a:t>
            </a:r>
            <a:r>
              <a:rPr lang="en-PH" sz="1600" b="1" dirty="0" err="1">
                <a:solidFill>
                  <a:srgbClr val="F3F8FC"/>
                </a:solidFill>
                <a:latin typeface="Aptos"/>
              </a:rPr>
              <a:t>Plotly</a:t>
            </a:r>
            <a:r>
              <a:rPr dirty="0"/>
              <a:t> &amp; </a:t>
            </a:r>
            <a:r>
              <a:rPr lang="en-PH" sz="1600" b="1" dirty="0">
                <a:solidFill>
                  <a:srgbClr val="F3F8FC"/>
                </a:solidFill>
                <a:latin typeface="Aptos"/>
              </a:rPr>
              <a:t>Pandas Built-in Plotting</a:t>
            </a:r>
            <a:r>
              <a:rPr dirty="0"/>
              <a:t>)</a:t>
            </a:r>
          </a:p>
        </p:txBody>
      </p:sp>
      <p:sp>
        <p:nvSpPr>
          <p:cNvPr id="24" name="Rounded Rectangle 20">
            <a:extLst>
              <a:ext uri="{FF2B5EF4-FFF2-40B4-BE49-F238E27FC236}">
                <a16:creationId xmlns:a16="http://schemas.microsoft.com/office/drawing/2014/main" id="{303C9499-1824-08A2-808C-A31CE11C1BDB}"/>
              </a:ext>
            </a:extLst>
          </p:cNvPr>
          <p:cNvSpPr/>
          <p:nvPr/>
        </p:nvSpPr>
        <p:spPr>
          <a:xfrm>
            <a:off x="685800" y="5892128"/>
            <a:ext cx="10820400" cy="630936"/>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76EBFC18-A943-3A0D-14F3-0639ADF1BAC7}"/>
              </a:ext>
            </a:extLst>
          </p:cNvPr>
          <p:cNvSpPr txBox="1"/>
          <p:nvPr/>
        </p:nvSpPr>
        <p:spPr>
          <a:xfrm>
            <a:off x="1207008" y="6080980"/>
            <a:ext cx="10180320" cy="292388"/>
          </a:xfrm>
          <a:prstGeom prst="rect">
            <a:avLst/>
          </a:prstGeom>
          <a:noFill/>
        </p:spPr>
        <p:txBody>
          <a:bodyPr wrap="square" lIns="0" tIns="0" rIns="0">
            <a:spAutoFit/>
          </a:bodyPr>
          <a:lstStyle/>
          <a:p>
            <a:pPr>
              <a:spcAft>
                <a:spcPts val="700"/>
              </a:spcAft>
              <a:defRPr sz="1600" b="1">
                <a:solidFill>
                  <a:srgbClr val="F3F8FC"/>
                </a:solidFill>
                <a:latin typeface="Aptos"/>
              </a:defRPr>
            </a:pPr>
            <a:r>
              <a:rPr lang="en-PH" sz="1600" b="1" dirty="0">
                <a:solidFill>
                  <a:srgbClr val="F3F8FC"/>
                </a:solidFill>
                <a:latin typeface="Aptos"/>
              </a:rPr>
              <a:t>Python Frameworks </a:t>
            </a:r>
            <a:r>
              <a:rPr dirty="0"/>
              <a:t>(</a:t>
            </a:r>
            <a:r>
              <a:rPr lang="en-PH" sz="1600" b="1" dirty="0">
                <a:solidFill>
                  <a:srgbClr val="F3F8FC"/>
                </a:solidFill>
                <a:latin typeface="Aptos"/>
              </a:rPr>
              <a:t>Flask</a:t>
            </a:r>
            <a:r>
              <a:rPr dirty="0"/>
              <a:t>, </a:t>
            </a:r>
            <a:r>
              <a:rPr lang="en-PH" sz="1600" b="1" dirty="0">
                <a:solidFill>
                  <a:srgbClr val="F3F8FC"/>
                </a:solidFill>
                <a:latin typeface="Aptos"/>
              </a:rPr>
              <a:t>Django</a:t>
            </a:r>
            <a:r>
              <a:rPr dirty="0"/>
              <a:t> &amp; </a:t>
            </a:r>
            <a:r>
              <a:rPr lang="en-PH" sz="1600" b="1" dirty="0">
                <a:solidFill>
                  <a:srgbClr val="F3F8FC"/>
                </a:solidFill>
                <a:latin typeface="Aptos"/>
              </a:rPr>
              <a:t>Pandas Built-in Plotting</a:t>
            </a:r>
            <a:r>
              <a:rPr dirty="0"/>
              <a:t>)</a:t>
            </a:r>
          </a:p>
        </p:txBody>
      </p:sp>
      <p:sp>
        <p:nvSpPr>
          <p:cNvPr id="26" name="TextBox 25">
            <a:extLst>
              <a:ext uri="{FF2B5EF4-FFF2-40B4-BE49-F238E27FC236}">
                <a16:creationId xmlns:a16="http://schemas.microsoft.com/office/drawing/2014/main" id="{5FD51218-EB3F-8A65-770F-0CD943348ED7}"/>
              </a:ext>
            </a:extLst>
          </p:cNvPr>
          <p:cNvSpPr txBox="1"/>
          <p:nvPr/>
        </p:nvSpPr>
        <p:spPr>
          <a:xfrm>
            <a:off x="832104" y="6149562"/>
            <a:ext cx="384048" cy="237744"/>
          </a:xfrm>
          <a:prstGeom prst="rect">
            <a:avLst/>
          </a:prstGeom>
          <a:noFill/>
        </p:spPr>
        <p:txBody>
          <a:bodyPr wrap="square" lIns="0" tIns="0" rIns="0">
            <a:spAutoFit/>
          </a:bodyPr>
          <a:lstStyle/>
          <a:p>
            <a:pPr>
              <a:spcAft>
                <a:spcPts val="700"/>
              </a:spcAft>
              <a:defRPr sz="1100" b="1">
                <a:solidFill>
                  <a:srgbClr val="42D5D6"/>
                </a:solidFill>
                <a:latin typeface="Aptos"/>
              </a:defRPr>
            </a:pPr>
            <a:r>
              <a:rPr dirty="0"/>
              <a:t>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Advanced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01–03 of 05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28</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Database Integration</a:t>
            </a:r>
          </a:p>
        </p:txBody>
      </p:sp>
      <p:sp>
        <p:nvSpPr>
          <p:cNvPr id="8" name="TextBox 7"/>
          <p:cNvSpPr txBox="1"/>
          <p:nvPr/>
        </p:nvSpPr>
        <p:spPr>
          <a:xfrm>
            <a:off x="1389888" y="2350008"/>
            <a:ext cx="9326880" cy="758952"/>
          </a:xfrm>
          <a:prstGeom prst="rect">
            <a:avLst/>
          </a:prstGeom>
          <a:noFill/>
        </p:spPr>
        <p:txBody>
          <a:bodyPr wrap="square" lIns="27432" tIns="18288" rIns="27432">
            <a:spAutoFit/>
          </a:bodyPr>
          <a:lstStyle/>
          <a:p>
            <a:pPr>
              <a:defRPr sz="1250" b="0">
                <a:solidFill>
                  <a:srgbClr val="B2C0D5"/>
                </a:solidFill>
                <a:latin typeface="Aptos"/>
              </a:defRPr>
            </a:pPr>
            <a:r>
              <a:t>Databases store structured information that programs can retrieve and update. Students practice basic SQL operations such as SELECT and INSERT. They connect Python to a sample database and work with records.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t>29</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t>APIs &amp; Web Data</a:t>
            </a:r>
          </a:p>
        </p:txBody>
      </p:sp>
      <p:sp>
        <p:nvSpPr>
          <p:cNvPr id="12" name="TextBox 11"/>
          <p:cNvSpPr txBox="1"/>
          <p:nvPr/>
        </p:nvSpPr>
        <p:spPr>
          <a:xfrm>
            <a:off x="1389888" y="3895344"/>
            <a:ext cx="9326880" cy="758952"/>
          </a:xfrm>
          <a:prstGeom prst="rect">
            <a:avLst/>
          </a:prstGeom>
          <a:noFill/>
        </p:spPr>
        <p:txBody>
          <a:bodyPr wrap="square" lIns="27432" tIns="18288" rIns="27432">
            <a:spAutoFit/>
          </a:bodyPr>
          <a:lstStyle/>
          <a:p>
            <a:pPr>
              <a:defRPr sz="1250" b="0">
                <a:solidFill>
                  <a:srgbClr val="B2C0D5"/>
                </a:solidFill>
                <a:latin typeface="Aptos"/>
              </a:defRPr>
            </a:pPr>
            <a:r>
              <a:t>APIs allow programs to exchange information with other services. Students learn basic HTTP requests and how to interpret JSON responses. They practice processing data from a controlled example API.</a:t>
            </a:r>
          </a:p>
        </p:txBody>
      </p:sp>
      <p:sp>
        <p:nvSpPr>
          <p:cNvPr id="13" name="Rounded Rectangle 12"/>
          <p:cNvSpPr/>
          <p:nvPr/>
        </p:nvSpPr>
        <p:spPr>
          <a:xfrm>
            <a:off x="594360" y="4946904"/>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065776"/>
            <a:ext cx="502920" cy="329184"/>
          </a:xfrm>
          <a:prstGeom prst="rect">
            <a:avLst/>
          </a:prstGeom>
          <a:noFill/>
        </p:spPr>
        <p:txBody>
          <a:bodyPr wrap="square" lIns="27432" tIns="18288" rIns="27432">
            <a:spAutoFit/>
          </a:bodyPr>
          <a:lstStyle/>
          <a:p>
            <a:pPr>
              <a:defRPr sz="1700" b="1">
                <a:solidFill>
                  <a:srgbClr val="47D1DE"/>
                </a:solidFill>
                <a:latin typeface="Aptos"/>
              </a:defRPr>
            </a:pPr>
            <a:r>
              <a:t>30</a:t>
            </a:r>
          </a:p>
        </p:txBody>
      </p:sp>
      <p:sp>
        <p:nvSpPr>
          <p:cNvPr id="15" name="TextBox 14"/>
          <p:cNvSpPr txBox="1"/>
          <p:nvPr/>
        </p:nvSpPr>
        <p:spPr>
          <a:xfrm>
            <a:off x="1389888" y="5038344"/>
            <a:ext cx="9418320" cy="347472"/>
          </a:xfrm>
          <a:prstGeom prst="rect">
            <a:avLst/>
          </a:prstGeom>
          <a:noFill/>
        </p:spPr>
        <p:txBody>
          <a:bodyPr wrap="square" lIns="27432" tIns="18288" rIns="27432">
            <a:spAutoFit/>
          </a:bodyPr>
          <a:lstStyle/>
          <a:p>
            <a:pPr>
              <a:defRPr sz="1800" b="1">
                <a:solidFill>
                  <a:srgbClr val="F5F7FC"/>
                </a:solidFill>
                <a:latin typeface="Aptos"/>
              </a:defRPr>
            </a:pPr>
            <a:r>
              <a:t>Testing &amp; Deployment</a:t>
            </a:r>
          </a:p>
        </p:txBody>
      </p:sp>
      <p:sp>
        <p:nvSpPr>
          <p:cNvPr id="16" name="TextBox 15"/>
          <p:cNvSpPr txBox="1"/>
          <p:nvPr/>
        </p:nvSpPr>
        <p:spPr>
          <a:xfrm>
            <a:off x="1389888" y="5440680"/>
            <a:ext cx="9326880" cy="758952"/>
          </a:xfrm>
          <a:prstGeom prst="rect">
            <a:avLst/>
          </a:prstGeom>
          <a:noFill/>
        </p:spPr>
        <p:txBody>
          <a:bodyPr wrap="square" lIns="27432" tIns="18288" rIns="27432">
            <a:spAutoFit/>
          </a:bodyPr>
          <a:lstStyle/>
          <a:p>
            <a:pPr>
              <a:defRPr sz="1250" b="0">
                <a:solidFill>
                  <a:srgbClr val="B2C0D5"/>
                </a:solidFill>
                <a:latin typeface="Aptos"/>
              </a:defRPr>
            </a:pPr>
            <a:r>
              <a:t>Testing checks whether code behaves as expected. Students create simple test cases and fix problems they uncover. They then prepare a small Python project for presentation or delivery.</a:t>
            </a:r>
          </a:p>
        </p:txBody>
      </p:sp>
      <p:sp>
        <p:nvSpPr>
          <p:cNvPr id="17" name="TextBox 16"/>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62B"/>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9144000" cy="292608"/>
          </a:xfrm>
          <a:prstGeom prst="rect">
            <a:avLst/>
          </a:prstGeom>
          <a:noFill/>
        </p:spPr>
        <p:txBody>
          <a:bodyPr wrap="square" lIns="27432" tIns="18288" rIns="27432">
            <a:spAutoFit/>
          </a:bodyPr>
          <a:lstStyle/>
          <a:p>
            <a:pPr>
              <a:defRPr sz="1100" b="1">
                <a:solidFill>
                  <a:srgbClr val="47D1DE"/>
                </a:solidFill>
                <a:latin typeface="Aptos"/>
              </a:defRPr>
            </a:pPr>
            <a:r>
              <a:t>PYTHON PROGRAMMING  /  SUBTOPIC EXPLANATIONS</a:t>
            </a:r>
          </a:p>
        </p:txBody>
      </p:sp>
      <p:sp>
        <p:nvSpPr>
          <p:cNvPr id="3" name="TextBox 2"/>
          <p:cNvSpPr txBox="1"/>
          <p:nvPr/>
        </p:nvSpPr>
        <p:spPr>
          <a:xfrm>
            <a:off x="594360" y="704088"/>
            <a:ext cx="10058400" cy="530352"/>
          </a:xfrm>
          <a:prstGeom prst="rect">
            <a:avLst/>
          </a:prstGeom>
          <a:noFill/>
        </p:spPr>
        <p:txBody>
          <a:bodyPr wrap="square" lIns="27432" tIns="18288" rIns="27432">
            <a:spAutoFit/>
          </a:bodyPr>
          <a:lstStyle/>
          <a:p>
            <a:pPr>
              <a:defRPr sz="2900" b="1">
                <a:solidFill>
                  <a:srgbClr val="F5F7FC"/>
                </a:solidFill>
                <a:latin typeface="Aptos"/>
              </a:defRPr>
            </a:pPr>
            <a:r>
              <a:t>Advanced Python</a:t>
            </a:r>
          </a:p>
        </p:txBody>
      </p:sp>
      <p:sp>
        <p:nvSpPr>
          <p:cNvPr id="4" name="TextBox 3"/>
          <p:cNvSpPr txBox="1"/>
          <p:nvPr/>
        </p:nvSpPr>
        <p:spPr>
          <a:xfrm>
            <a:off x="594360" y="1280160"/>
            <a:ext cx="10058400" cy="274320"/>
          </a:xfrm>
          <a:prstGeom prst="rect">
            <a:avLst/>
          </a:prstGeom>
          <a:noFill/>
        </p:spPr>
        <p:txBody>
          <a:bodyPr wrap="square" lIns="27432" tIns="18288" rIns="27432">
            <a:spAutoFit/>
          </a:bodyPr>
          <a:lstStyle/>
          <a:p>
            <a:pPr>
              <a:defRPr sz="1100" b="0">
                <a:solidFill>
                  <a:srgbClr val="B2C0D5"/>
                </a:solidFill>
                <a:latin typeface="Aptos"/>
              </a:defRPr>
            </a:pPr>
            <a:r>
              <a:t>Subtopics 04–05 of 05</a:t>
            </a:r>
          </a:p>
        </p:txBody>
      </p:sp>
      <p:sp>
        <p:nvSpPr>
          <p:cNvPr id="5" name="Rounded Rectangle 4"/>
          <p:cNvSpPr/>
          <p:nvPr/>
        </p:nvSpPr>
        <p:spPr>
          <a:xfrm>
            <a:off x="594360" y="1856231"/>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75103"/>
            <a:ext cx="502920" cy="329184"/>
          </a:xfrm>
          <a:prstGeom prst="rect">
            <a:avLst/>
          </a:prstGeom>
          <a:noFill/>
        </p:spPr>
        <p:txBody>
          <a:bodyPr wrap="square" lIns="27432" tIns="18288" rIns="27432">
            <a:spAutoFit/>
          </a:bodyPr>
          <a:lstStyle/>
          <a:p>
            <a:pPr>
              <a:defRPr sz="1700" b="1">
                <a:solidFill>
                  <a:srgbClr val="47D1DE"/>
                </a:solidFill>
                <a:latin typeface="Aptos"/>
              </a:defRPr>
            </a:pPr>
            <a:r>
              <a:t>31</a:t>
            </a:r>
          </a:p>
        </p:txBody>
      </p:sp>
      <p:sp>
        <p:nvSpPr>
          <p:cNvPr id="7" name="TextBox 6"/>
          <p:cNvSpPr txBox="1"/>
          <p:nvPr/>
        </p:nvSpPr>
        <p:spPr>
          <a:xfrm>
            <a:off x="1389888" y="1947672"/>
            <a:ext cx="9418320" cy="347472"/>
          </a:xfrm>
          <a:prstGeom prst="rect">
            <a:avLst/>
          </a:prstGeom>
          <a:noFill/>
        </p:spPr>
        <p:txBody>
          <a:bodyPr wrap="square" lIns="27432" tIns="18288" rIns="27432">
            <a:spAutoFit/>
          </a:bodyPr>
          <a:lstStyle/>
          <a:p>
            <a:pPr>
              <a:defRPr sz="1800" b="1">
                <a:solidFill>
                  <a:srgbClr val="F5F7FC"/>
                </a:solidFill>
                <a:latin typeface="Aptos"/>
              </a:defRPr>
            </a:pPr>
            <a:r>
              <a:t>Python Graphs</a:t>
            </a:r>
          </a:p>
        </p:txBody>
      </p:sp>
      <p:sp>
        <p:nvSpPr>
          <p:cNvPr id="8" name="TextBox 7"/>
          <p:cNvSpPr txBox="1"/>
          <p:nvPr/>
        </p:nvSpPr>
        <p:spPr>
          <a:xfrm>
            <a:off x="1389888" y="2350008"/>
            <a:ext cx="9326880" cy="758952"/>
          </a:xfrm>
          <a:prstGeom prst="rect">
            <a:avLst/>
          </a:prstGeom>
          <a:noFill/>
        </p:spPr>
        <p:txBody>
          <a:bodyPr wrap="square" lIns="27432" tIns="18288" rIns="27432">
            <a:spAutoFit/>
          </a:bodyPr>
          <a:lstStyle/>
          <a:p>
            <a:pPr>
              <a:defRPr sz="1250" b="0">
                <a:solidFill>
                  <a:srgbClr val="B2C0D5"/>
                </a:solidFill>
                <a:latin typeface="Aptos"/>
              </a:defRPr>
            </a:pPr>
            <a:r>
              <a:t>Graphs visually show relationships and patterns in data. Students use Matplotlib to create line graphs and scatter plots. They practice labeling axes, adding titles, and interpreting trends.</a:t>
            </a:r>
          </a:p>
        </p:txBody>
      </p:sp>
      <p:sp>
        <p:nvSpPr>
          <p:cNvPr id="9" name="Rounded Rectangle 8"/>
          <p:cNvSpPr/>
          <p:nvPr/>
        </p:nvSpPr>
        <p:spPr>
          <a:xfrm>
            <a:off x="594360" y="3401568"/>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3520439"/>
            <a:ext cx="502920" cy="329184"/>
          </a:xfrm>
          <a:prstGeom prst="rect">
            <a:avLst/>
          </a:prstGeom>
          <a:noFill/>
        </p:spPr>
        <p:txBody>
          <a:bodyPr wrap="square" lIns="27432" tIns="18288" rIns="27432">
            <a:spAutoFit/>
          </a:bodyPr>
          <a:lstStyle/>
          <a:p>
            <a:pPr>
              <a:defRPr sz="1700" b="1">
                <a:solidFill>
                  <a:srgbClr val="47D1DE"/>
                </a:solidFill>
                <a:latin typeface="Aptos"/>
              </a:defRPr>
            </a:pPr>
            <a:r>
              <a:rPr dirty="0"/>
              <a:t>32</a:t>
            </a:r>
          </a:p>
        </p:txBody>
      </p:sp>
      <p:sp>
        <p:nvSpPr>
          <p:cNvPr id="11" name="TextBox 10"/>
          <p:cNvSpPr txBox="1"/>
          <p:nvPr/>
        </p:nvSpPr>
        <p:spPr>
          <a:xfrm>
            <a:off x="1389888" y="3493008"/>
            <a:ext cx="9418320" cy="347472"/>
          </a:xfrm>
          <a:prstGeom prst="rect">
            <a:avLst/>
          </a:prstGeom>
          <a:noFill/>
        </p:spPr>
        <p:txBody>
          <a:bodyPr wrap="square" lIns="27432" tIns="18288" rIns="27432">
            <a:spAutoFit/>
          </a:bodyPr>
          <a:lstStyle/>
          <a:p>
            <a:pPr>
              <a:defRPr sz="1800" b="1">
                <a:solidFill>
                  <a:srgbClr val="F5F7FC"/>
                </a:solidFill>
                <a:latin typeface="Aptos"/>
              </a:defRPr>
            </a:pPr>
            <a:r>
              <a:rPr dirty="0"/>
              <a:t>Python Charts</a:t>
            </a:r>
          </a:p>
        </p:txBody>
      </p:sp>
      <p:sp>
        <p:nvSpPr>
          <p:cNvPr id="12" name="TextBox 11"/>
          <p:cNvSpPr txBox="1"/>
          <p:nvPr/>
        </p:nvSpPr>
        <p:spPr>
          <a:xfrm>
            <a:off x="1389888" y="3895344"/>
            <a:ext cx="9326880" cy="758952"/>
          </a:xfrm>
          <a:prstGeom prst="rect">
            <a:avLst/>
          </a:prstGeom>
          <a:noFill/>
        </p:spPr>
        <p:txBody>
          <a:bodyPr wrap="square" lIns="27432" tIns="18288" rIns="27432">
            <a:spAutoFit/>
          </a:bodyPr>
          <a:lstStyle/>
          <a:p>
            <a:pPr>
              <a:defRPr sz="1250" b="0">
                <a:solidFill>
                  <a:srgbClr val="B2C0D5"/>
                </a:solidFill>
                <a:latin typeface="Aptos"/>
              </a:defRPr>
            </a:pPr>
            <a:r>
              <a:rPr dirty="0"/>
              <a:t>Charts help compare categories, proportions, and distributions. Students create bar charts, pie charts, and histograms using Python libraries. They learn to select suitable chart types and present data clearly.</a:t>
            </a:r>
          </a:p>
        </p:txBody>
      </p:sp>
      <p:sp>
        <p:nvSpPr>
          <p:cNvPr id="13" name="TextBox 12"/>
          <p:cNvSpPr txBox="1"/>
          <p:nvPr/>
        </p:nvSpPr>
        <p:spPr>
          <a:xfrm>
            <a:off x="621792" y="6419088"/>
            <a:ext cx="10058400" cy="201168"/>
          </a:xfrm>
          <a:prstGeom prst="rect">
            <a:avLst/>
          </a:prstGeom>
          <a:noFill/>
        </p:spPr>
        <p:txBody>
          <a:bodyPr wrap="square" lIns="27432" tIns="18288" rIns="27432">
            <a:spAutoFit/>
          </a:bodyPr>
          <a:lstStyle/>
          <a:p>
            <a:pPr>
              <a:defRPr sz="900" b="0">
                <a:solidFill>
                  <a:srgbClr val="B2C0D5"/>
                </a:solidFill>
                <a:latin typeface="Aptos"/>
              </a:defRPr>
            </a:pPr>
            <a:r>
              <a:t>PYTHON LECTURE  •  TOPIC PROPOSAL</a:t>
            </a:r>
          </a:p>
        </p:txBody>
      </p:sp>
      <p:sp>
        <p:nvSpPr>
          <p:cNvPr id="14" name="Rounded Rectangle 8">
            <a:extLst>
              <a:ext uri="{FF2B5EF4-FFF2-40B4-BE49-F238E27FC236}">
                <a16:creationId xmlns:a16="http://schemas.microsoft.com/office/drawing/2014/main" id="{69C5ED4F-B506-D13A-7BE5-B2D919AAFDA8}"/>
              </a:ext>
            </a:extLst>
          </p:cNvPr>
          <p:cNvSpPr/>
          <p:nvPr/>
        </p:nvSpPr>
        <p:spPr>
          <a:xfrm>
            <a:off x="551688" y="4946905"/>
            <a:ext cx="11003280" cy="1353312"/>
          </a:xfrm>
          <a:prstGeom prst="roundRect">
            <a:avLst/>
          </a:prstGeom>
          <a:solidFill>
            <a:srgbClr val="17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50C07536-7740-AEE9-E363-D1078835F4A5}"/>
              </a:ext>
            </a:extLst>
          </p:cNvPr>
          <p:cNvSpPr txBox="1"/>
          <p:nvPr/>
        </p:nvSpPr>
        <p:spPr>
          <a:xfrm>
            <a:off x="841248" y="5248656"/>
            <a:ext cx="502920" cy="329184"/>
          </a:xfrm>
          <a:prstGeom prst="rect">
            <a:avLst/>
          </a:prstGeom>
          <a:noFill/>
        </p:spPr>
        <p:txBody>
          <a:bodyPr wrap="square" lIns="27432" tIns="18288" rIns="27432">
            <a:spAutoFit/>
          </a:bodyPr>
          <a:lstStyle/>
          <a:p>
            <a:pPr>
              <a:defRPr sz="1700" b="1">
                <a:solidFill>
                  <a:srgbClr val="47D1DE"/>
                </a:solidFill>
                <a:latin typeface="Aptos"/>
              </a:defRPr>
            </a:pPr>
            <a:r>
              <a:rPr dirty="0"/>
              <a:t>32</a:t>
            </a:r>
          </a:p>
        </p:txBody>
      </p:sp>
      <p:sp>
        <p:nvSpPr>
          <p:cNvPr id="16" name="TextBox 15">
            <a:extLst>
              <a:ext uri="{FF2B5EF4-FFF2-40B4-BE49-F238E27FC236}">
                <a16:creationId xmlns:a16="http://schemas.microsoft.com/office/drawing/2014/main" id="{C5A83E79-47E6-A88D-24E8-15BB7E9E4A26}"/>
              </a:ext>
            </a:extLst>
          </p:cNvPr>
          <p:cNvSpPr txBox="1"/>
          <p:nvPr/>
        </p:nvSpPr>
        <p:spPr>
          <a:xfrm>
            <a:off x="1389888" y="5228008"/>
            <a:ext cx="9418320" cy="347472"/>
          </a:xfrm>
          <a:prstGeom prst="rect">
            <a:avLst/>
          </a:prstGeom>
          <a:noFill/>
        </p:spPr>
        <p:txBody>
          <a:bodyPr wrap="square" lIns="27432" tIns="18288" rIns="27432">
            <a:spAutoFit/>
          </a:bodyPr>
          <a:lstStyle/>
          <a:p>
            <a:pPr>
              <a:defRPr sz="1800" b="1">
                <a:solidFill>
                  <a:srgbClr val="F5F7FC"/>
                </a:solidFill>
                <a:latin typeface="Aptos"/>
              </a:defRPr>
            </a:pPr>
            <a:r>
              <a:rPr dirty="0"/>
              <a:t>Python </a:t>
            </a:r>
            <a:r>
              <a:rPr lang="en-PH" dirty="0"/>
              <a:t>Frameworks</a:t>
            </a:r>
            <a:endParaRPr dirty="0"/>
          </a:p>
        </p:txBody>
      </p:sp>
      <p:sp>
        <p:nvSpPr>
          <p:cNvPr id="17" name="TextBox 16">
            <a:extLst>
              <a:ext uri="{FF2B5EF4-FFF2-40B4-BE49-F238E27FC236}">
                <a16:creationId xmlns:a16="http://schemas.microsoft.com/office/drawing/2014/main" id="{405EE8A0-3DC1-E4EE-0E4E-35DE7B8A89CE}"/>
              </a:ext>
            </a:extLst>
          </p:cNvPr>
          <p:cNvSpPr txBox="1"/>
          <p:nvPr/>
        </p:nvSpPr>
        <p:spPr>
          <a:xfrm>
            <a:off x="1389888" y="5629560"/>
            <a:ext cx="9326880" cy="449354"/>
          </a:xfrm>
          <a:prstGeom prst="rect">
            <a:avLst/>
          </a:prstGeom>
          <a:noFill/>
        </p:spPr>
        <p:txBody>
          <a:bodyPr wrap="square" lIns="27432" tIns="18288" rIns="27432">
            <a:spAutoFit/>
          </a:bodyPr>
          <a:lstStyle/>
          <a:p>
            <a:pPr>
              <a:defRPr sz="1250" b="0">
                <a:solidFill>
                  <a:srgbClr val="B2C0D5"/>
                </a:solidFill>
                <a:latin typeface="Aptos"/>
              </a:defRPr>
            </a:pPr>
            <a:r>
              <a:rPr lang="en-US" dirty="0"/>
              <a:t>Python frameworks provide pre-built structures, tools, and code modules to help you build applications faster without writing everything from scratch.</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COURSE DELIVERY</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How the Lessons Will Work</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TEACH  →  PRACTICE  →  APPLY</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731520" y="2286000"/>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395728"/>
            <a:ext cx="2103120" cy="365760"/>
          </a:xfrm>
          <a:prstGeom prst="rect">
            <a:avLst/>
          </a:prstGeom>
          <a:noFill/>
        </p:spPr>
        <p:txBody>
          <a:bodyPr wrap="square" lIns="0" tIns="0" rIns="0">
            <a:spAutoFit/>
          </a:bodyPr>
          <a:lstStyle/>
          <a:p>
            <a:pPr>
              <a:spcAft>
                <a:spcPts val="700"/>
              </a:spcAft>
              <a:defRPr sz="2000" b="1">
                <a:solidFill>
                  <a:srgbClr val="42D5D6"/>
                </a:solidFill>
                <a:latin typeface="Aptos"/>
              </a:defRPr>
            </a:pPr>
            <a:r>
              <a:t>1  Learn</a:t>
            </a:r>
          </a:p>
        </p:txBody>
      </p:sp>
      <p:sp>
        <p:nvSpPr>
          <p:cNvPr id="11" name="TextBox 10"/>
          <p:cNvSpPr txBox="1"/>
          <p:nvPr/>
        </p:nvSpPr>
        <p:spPr>
          <a:xfrm>
            <a:off x="2971800" y="2423160"/>
            <a:ext cx="8077200" cy="594360"/>
          </a:xfrm>
          <a:prstGeom prst="rect">
            <a:avLst/>
          </a:prstGeom>
          <a:noFill/>
        </p:spPr>
        <p:txBody>
          <a:bodyPr wrap="square" lIns="0" tIns="0" rIns="0">
            <a:spAutoFit/>
          </a:bodyPr>
          <a:lstStyle/>
          <a:p>
            <a:pPr>
              <a:spcAft>
                <a:spcPts val="700"/>
              </a:spcAft>
              <a:defRPr sz="1500" b="0">
                <a:solidFill>
                  <a:srgbClr val="F3F8FC"/>
                </a:solidFill>
                <a:latin typeface="Aptos"/>
              </a:defRPr>
            </a:pPr>
            <a:r>
              <a:t>Introduce each concept with a simple explanation and real-world example.</a:t>
            </a:r>
          </a:p>
        </p:txBody>
      </p:sp>
      <p:sp>
        <p:nvSpPr>
          <p:cNvPr id="12" name="Rounded Rectangle 11"/>
          <p:cNvSpPr/>
          <p:nvPr/>
        </p:nvSpPr>
        <p:spPr>
          <a:xfrm>
            <a:off x="731520" y="3429000"/>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538728"/>
            <a:ext cx="2103120" cy="365760"/>
          </a:xfrm>
          <a:prstGeom prst="rect">
            <a:avLst/>
          </a:prstGeom>
          <a:noFill/>
        </p:spPr>
        <p:txBody>
          <a:bodyPr wrap="square" lIns="0" tIns="0" rIns="0">
            <a:spAutoFit/>
          </a:bodyPr>
          <a:lstStyle/>
          <a:p>
            <a:pPr>
              <a:spcAft>
                <a:spcPts val="700"/>
              </a:spcAft>
              <a:defRPr sz="2000" b="1">
                <a:solidFill>
                  <a:srgbClr val="42D5D6"/>
                </a:solidFill>
                <a:latin typeface="Aptos"/>
              </a:defRPr>
            </a:pPr>
            <a:r>
              <a:t>2  Practice</a:t>
            </a:r>
          </a:p>
        </p:txBody>
      </p:sp>
      <p:sp>
        <p:nvSpPr>
          <p:cNvPr id="14" name="TextBox 13"/>
          <p:cNvSpPr txBox="1"/>
          <p:nvPr/>
        </p:nvSpPr>
        <p:spPr>
          <a:xfrm>
            <a:off x="2971800" y="3566160"/>
            <a:ext cx="8077200" cy="594360"/>
          </a:xfrm>
          <a:prstGeom prst="rect">
            <a:avLst/>
          </a:prstGeom>
          <a:noFill/>
        </p:spPr>
        <p:txBody>
          <a:bodyPr wrap="square" lIns="0" tIns="0" rIns="0">
            <a:spAutoFit/>
          </a:bodyPr>
          <a:lstStyle/>
          <a:p>
            <a:pPr>
              <a:spcAft>
                <a:spcPts val="700"/>
              </a:spcAft>
              <a:defRPr sz="1500" b="0">
                <a:solidFill>
                  <a:srgbClr val="F3F8FC"/>
                </a:solidFill>
                <a:latin typeface="Aptos"/>
              </a:defRPr>
            </a:pPr>
            <a:r>
              <a:t>Complete guided coding exercises, quizzes, and setup tasks.</a:t>
            </a:r>
          </a:p>
        </p:txBody>
      </p:sp>
      <p:sp>
        <p:nvSpPr>
          <p:cNvPr id="15" name="Rounded Rectangle 14"/>
          <p:cNvSpPr/>
          <p:nvPr/>
        </p:nvSpPr>
        <p:spPr>
          <a:xfrm>
            <a:off x="731520" y="4572000"/>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681728"/>
            <a:ext cx="2103120" cy="365760"/>
          </a:xfrm>
          <a:prstGeom prst="rect">
            <a:avLst/>
          </a:prstGeom>
          <a:noFill/>
        </p:spPr>
        <p:txBody>
          <a:bodyPr wrap="square" lIns="0" tIns="0" rIns="0">
            <a:spAutoFit/>
          </a:bodyPr>
          <a:lstStyle/>
          <a:p>
            <a:pPr>
              <a:spcAft>
                <a:spcPts val="700"/>
              </a:spcAft>
              <a:defRPr sz="2000" b="1">
                <a:solidFill>
                  <a:srgbClr val="42D5D6"/>
                </a:solidFill>
                <a:latin typeface="Aptos"/>
              </a:defRPr>
            </a:pPr>
            <a:r>
              <a:t>3  Apply</a:t>
            </a:r>
          </a:p>
        </p:txBody>
      </p:sp>
      <p:sp>
        <p:nvSpPr>
          <p:cNvPr id="17" name="TextBox 16"/>
          <p:cNvSpPr txBox="1"/>
          <p:nvPr/>
        </p:nvSpPr>
        <p:spPr>
          <a:xfrm>
            <a:off x="2971800" y="4709160"/>
            <a:ext cx="8077200" cy="594360"/>
          </a:xfrm>
          <a:prstGeom prst="rect">
            <a:avLst/>
          </a:prstGeom>
          <a:noFill/>
        </p:spPr>
        <p:txBody>
          <a:bodyPr wrap="square" lIns="0" tIns="0" rIns="0">
            <a:spAutoFit/>
          </a:bodyPr>
          <a:lstStyle/>
          <a:p>
            <a:pPr>
              <a:spcAft>
                <a:spcPts val="700"/>
              </a:spcAft>
              <a:defRPr sz="1500" b="0">
                <a:solidFill>
                  <a:srgbClr val="F3F8FC"/>
                </a:solidFill>
                <a:latin typeface="Aptos"/>
              </a:defRPr>
            </a:pPr>
            <a:r>
              <a:t>Solve short programming challenges and demonstrate understanding.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INTERACTIVE EXPERIENCE</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Python Playground</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Practice by writing, running, and improving Python code.</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731520" y="2331720"/>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441448"/>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Write &amp; run code</a:t>
            </a:r>
          </a:p>
        </p:txBody>
      </p:sp>
      <p:sp>
        <p:nvSpPr>
          <p:cNvPr id="11" name="TextBox 10"/>
          <p:cNvSpPr txBox="1"/>
          <p:nvPr/>
        </p:nvSpPr>
        <p:spPr>
          <a:xfrm>
            <a:off x="3657600" y="2450591"/>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Edit starter programs, execute code, and review output.</a:t>
            </a:r>
          </a:p>
        </p:txBody>
      </p:sp>
      <p:sp>
        <p:nvSpPr>
          <p:cNvPr id="12" name="Rounded Rectangle 11"/>
          <p:cNvSpPr/>
          <p:nvPr/>
        </p:nvSpPr>
        <p:spPr>
          <a:xfrm>
            <a:off x="731520" y="3465576"/>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575304"/>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Improve solutions</a:t>
            </a:r>
          </a:p>
        </p:txBody>
      </p:sp>
      <p:sp>
        <p:nvSpPr>
          <p:cNvPr id="14" name="TextBox 13"/>
          <p:cNvSpPr txBox="1"/>
          <p:nvPr/>
        </p:nvSpPr>
        <p:spPr>
          <a:xfrm>
            <a:off x="3657600" y="3584448"/>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Debug mistakes, use hints, and compare against tests.</a:t>
            </a:r>
          </a:p>
        </p:txBody>
      </p:sp>
      <p:sp>
        <p:nvSpPr>
          <p:cNvPr id="15" name="Rounded Rectangle 14"/>
          <p:cNvSpPr/>
          <p:nvPr/>
        </p:nvSpPr>
        <p:spPr>
          <a:xfrm>
            <a:off x="731520" y="4599431"/>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709159"/>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Track learning</a:t>
            </a:r>
          </a:p>
        </p:txBody>
      </p:sp>
      <p:sp>
        <p:nvSpPr>
          <p:cNvPr id="17" name="TextBox 16"/>
          <p:cNvSpPr txBox="1"/>
          <p:nvPr/>
        </p:nvSpPr>
        <p:spPr>
          <a:xfrm>
            <a:off x="3657600" y="4718303"/>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Save progress and submissions when supported by the platform.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8912" y="502920"/>
            <a:ext cx="54864" cy="347472"/>
          </a:xfrm>
          <a:prstGeom prst="rect">
            <a:avLst/>
          </a:prstGeom>
          <a:solidFill>
            <a:srgbClr val="42D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84632"/>
            <a:ext cx="10911840" cy="292608"/>
          </a:xfrm>
          <a:prstGeom prst="rect">
            <a:avLst/>
          </a:prstGeom>
          <a:noFill/>
        </p:spPr>
        <p:txBody>
          <a:bodyPr wrap="square" lIns="0" tIns="0" rIns="0">
            <a:spAutoFit/>
          </a:bodyPr>
          <a:lstStyle/>
          <a:p>
            <a:pPr>
              <a:spcAft>
                <a:spcPts val="700"/>
              </a:spcAft>
              <a:defRPr sz="1200" b="1">
                <a:solidFill>
                  <a:srgbClr val="42D5D6"/>
                </a:solidFill>
                <a:latin typeface="Aptos"/>
              </a:defRPr>
            </a:pPr>
            <a:r>
              <a:t>EXPECTED OUTCOMES</a:t>
            </a:r>
          </a:p>
        </p:txBody>
      </p:sp>
      <p:sp>
        <p:nvSpPr>
          <p:cNvPr id="5" name="TextBox 4"/>
          <p:cNvSpPr txBox="1"/>
          <p:nvPr/>
        </p:nvSpPr>
        <p:spPr>
          <a:xfrm>
            <a:off x="640080" y="960120"/>
            <a:ext cx="10911840" cy="640080"/>
          </a:xfrm>
          <a:prstGeom prst="rect">
            <a:avLst/>
          </a:prstGeom>
          <a:noFill/>
        </p:spPr>
        <p:txBody>
          <a:bodyPr wrap="square" lIns="0" tIns="0" rIns="0">
            <a:spAutoFit/>
          </a:bodyPr>
          <a:lstStyle/>
          <a:p>
            <a:pPr>
              <a:spcAft>
                <a:spcPts val="700"/>
              </a:spcAft>
              <a:defRPr sz="3200" b="1">
                <a:solidFill>
                  <a:srgbClr val="F3F8FC"/>
                </a:solidFill>
                <a:latin typeface="Aptos"/>
              </a:defRPr>
            </a:pPr>
            <a:r>
              <a:t>Final Project</a:t>
            </a:r>
          </a:p>
        </p:txBody>
      </p:sp>
      <p:sp>
        <p:nvSpPr>
          <p:cNvPr id="6" name="TextBox 5"/>
          <p:cNvSpPr txBox="1"/>
          <p:nvPr/>
        </p:nvSpPr>
        <p:spPr>
          <a:xfrm>
            <a:off x="658368" y="1673352"/>
            <a:ext cx="10911840" cy="457200"/>
          </a:xfrm>
          <a:prstGeom prst="rect">
            <a:avLst/>
          </a:prstGeom>
          <a:noFill/>
        </p:spPr>
        <p:txBody>
          <a:bodyPr wrap="square" lIns="0" tIns="0" rIns="0">
            <a:spAutoFit/>
          </a:bodyPr>
          <a:lstStyle/>
          <a:p>
            <a:pPr>
              <a:spcAft>
                <a:spcPts val="700"/>
              </a:spcAft>
              <a:defRPr sz="1500" b="0">
                <a:solidFill>
                  <a:srgbClr val="A4B8CA"/>
                </a:solidFill>
                <a:latin typeface="Aptos"/>
              </a:defRPr>
            </a:pPr>
            <a:r>
              <a:t>Apply skills from Basic, Intermediate, and Advanced Python.</a:t>
            </a:r>
          </a:p>
        </p:txBody>
      </p:sp>
      <p:sp>
        <p:nvSpPr>
          <p:cNvPr id="7" name="Rectangle 6"/>
          <p:cNvSpPr/>
          <p:nvPr/>
        </p:nvSpPr>
        <p:spPr>
          <a:xfrm>
            <a:off x="640080" y="6364224"/>
            <a:ext cx="10911840" cy="13716"/>
          </a:xfrm>
          <a:prstGeom prst="rect">
            <a:avLst/>
          </a:prstGeom>
          <a:solidFill>
            <a:srgbClr val="324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10820400" cy="228600"/>
          </a:xfrm>
          <a:prstGeom prst="rect">
            <a:avLst/>
          </a:prstGeom>
          <a:noFill/>
        </p:spPr>
        <p:txBody>
          <a:bodyPr wrap="square" lIns="0" tIns="0" rIns="0">
            <a:spAutoFit/>
          </a:bodyPr>
          <a:lstStyle/>
          <a:p>
            <a:pPr>
              <a:spcAft>
                <a:spcPts val="700"/>
              </a:spcAft>
              <a:defRPr sz="900" b="0">
                <a:solidFill>
                  <a:srgbClr val="A4B8CA"/>
                </a:solidFill>
                <a:latin typeface="Aptos"/>
              </a:defRPr>
            </a:pPr>
            <a:r>
              <a:t>PYTHON LECTURE  •  TOPIC PROPOSAL</a:t>
            </a:r>
          </a:p>
        </p:txBody>
      </p:sp>
      <p:sp>
        <p:nvSpPr>
          <p:cNvPr id="9" name="Rounded Rectangle 8"/>
          <p:cNvSpPr/>
          <p:nvPr/>
        </p:nvSpPr>
        <p:spPr>
          <a:xfrm>
            <a:off x="731520" y="2331720"/>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441448"/>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Build</a:t>
            </a:r>
          </a:p>
        </p:txBody>
      </p:sp>
      <p:sp>
        <p:nvSpPr>
          <p:cNvPr id="11" name="TextBox 10"/>
          <p:cNvSpPr txBox="1"/>
          <p:nvPr/>
        </p:nvSpPr>
        <p:spPr>
          <a:xfrm>
            <a:off x="3657600" y="2450591"/>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Create a small Python application using learned concepts.</a:t>
            </a:r>
          </a:p>
        </p:txBody>
      </p:sp>
      <p:sp>
        <p:nvSpPr>
          <p:cNvPr id="12" name="Rounded Rectangle 11"/>
          <p:cNvSpPr/>
          <p:nvPr/>
        </p:nvSpPr>
        <p:spPr>
          <a:xfrm>
            <a:off x="731520" y="3465576"/>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575304"/>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Test &amp; refine</a:t>
            </a:r>
          </a:p>
        </p:txBody>
      </p:sp>
      <p:sp>
        <p:nvSpPr>
          <p:cNvPr id="14" name="TextBox 13"/>
          <p:cNvSpPr txBox="1"/>
          <p:nvPr/>
        </p:nvSpPr>
        <p:spPr>
          <a:xfrm>
            <a:off x="3657600" y="3584448"/>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Run test cases, fix errors, and improve code quality.</a:t>
            </a:r>
          </a:p>
        </p:txBody>
      </p:sp>
      <p:sp>
        <p:nvSpPr>
          <p:cNvPr id="15" name="Rounded Rectangle 14"/>
          <p:cNvSpPr/>
          <p:nvPr/>
        </p:nvSpPr>
        <p:spPr>
          <a:xfrm>
            <a:off x="731520" y="4599431"/>
            <a:ext cx="10728960" cy="932688"/>
          </a:xfrm>
          <a:prstGeom prst="roundRect">
            <a:avLst/>
          </a:prstGeom>
          <a:solidFill>
            <a:srgbClr val="13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709159"/>
            <a:ext cx="2743200" cy="347472"/>
          </a:xfrm>
          <a:prstGeom prst="rect">
            <a:avLst/>
          </a:prstGeom>
          <a:noFill/>
        </p:spPr>
        <p:txBody>
          <a:bodyPr wrap="square" lIns="0" tIns="0" rIns="0">
            <a:spAutoFit/>
          </a:bodyPr>
          <a:lstStyle/>
          <a:p>
            <a:pPr>
              <a:spcAft>
                <a:spcPts val="700"/>
              </a:spcAft>
              <a:defRPr sz="1900" b="1">
                <a:solidFill>
                  <a:srgbClr val="42D5D6"/>
                </a:solidFill>
                <a:latin typeface="Aptos"/>
              </a:defRPr>
            </a:pPr>
            <a:r>
              <a:t>Present &amp; submit</a:t>
            </a:r>
          </a:p>
        </p:txBody>
      </p:sp>
      <p:sp>
        <p:nvSpPr>
          <p:cNvPr id="17" name="TextBox 16"/>
          <p:cNvSpPr txBox="1"/>
          <p:nvPr/>
        </p:nvSpPr>
        <p:spPr>
          <a:xfrm>
            <a:off x="3657600" y="4718303"/>
            <a:ext cx="7620000" cy="658368"/>
          </a:xfrm>
          <a:prstGeom prst="rect">
            <a:avLst/>
          </a:prstGeom>
          <a:noFill/>
        </p:spPr>
        <p:txBody>
          <a:bodyPr wrap="square" lIns="0" tIns="0" rIns="0">
            <a:spAutoFit/>
          </a:bodyPr>
          <a:lstStyle/>
          <a:p>
            <a:pPr>
              <a:spcAft>
                <a:spcPts val="700"/>
              </a:spcAft>
              <a:defRPr sz="1400" b="0">
                <a:solidFill>
                  <a:srgbClr val="F3F8FC"/>
                </a:solidFill>
                <a:latin typeface="Aptos"/>
              </a:defRPr>
            </a:pPr>
            <a:r>
              <a:t>Demonstrate the application, explain its logic, and submit the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83</TotalTime>
  <Words>1753</Words>
  <Application>Microsoft Office PowerPoint</Application>
  <PresentationFormat>Widescreen</PresentationFormat>
  <Paragraphs>267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MinMin .</cp:lastModifiedBy>
  <cp:revision>2</cp:revision>
  <dcterms:created xsi:type="dcterms:W3CDTF">2013-01-27T09:14:16Z</dcterms:created>
  <dcterms:modified xsi:type="dcterms:W3CDTF">2026-10-22T01:22:28Z</dcterms:modified>
  <cp:category/>
</cp:coreProperties>
</file>